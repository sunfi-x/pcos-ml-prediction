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 rIns="731520"/>
          <a:lstStyle/>
          <a:p>
            <a:pPr algn="ctr">
              <a:defRPr sz="1200" b="1">
                <a:solidFill>
                  <a:srgbClr val="0E7490"/>
                </a:solidFill>
              </a:defRPr>
            </a:pPr>
            <a:r>
              <a:t>PCOS PREDICTION USING MACHINE LEARNING</a:t>
            </a:r>
          </a:p>
          <a:p>
            <a:pPr>
              <a:spcBef>
                <a:spcPts val="1000"/>
              </a:spcBef>
              <a:defRPr sz="2800" b="1">
                <a:solidFill>
                  <a:srgbClr val="0F172A"/>
                </a:solidFill>
              </a:defRPr>
            </a:pPr>
            <a:r>
              <a:t>Machine Learning-Based Prediction of Polycystic Ovary Syndrome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</a:defRPr>
            </a:pPr>
            <a:r>
              <a:t>An End-to-End Leak-Free, Explainable, and Cost-Aware Clinical Predictive Framework</a:t>
            </a:r>
          </a:p>
          <a:p>
            <a:br/>
            <a:pPr>
              <a:spcBef>
                <a:spcPts val="2500"/>
              </a:spcBef>
              <a:defRPr sz="1400" b="1">
                <a:solidFill>
                  <a:srgbClr val="0F172A"/>
                </a:solidFill>
              </a:defRPr>
            </a:pPr>
            <a:r>
              <a:t>Coursework Presentation | Group 5</a:t>
            </a:r>
          </a:p>
          <a:p>
            <a:pPr>
              <a:spcBef>
                <a:spcPts val="500"/>
              </a:spcBef>
              <a:defRPr sz="1300">
                <a:solidFill>
                  <a:srgbClr val="334155"/>
                </a:solidFill>
              </a:defRPr>
            </a:pPr>
            <a:r>
              <a:t>• Fatema Ferdous (ID: 0152410052)</a:t>
            </a:r>
            <a:br/>
            <a:r>
              <a:t>• Wafa Haque (ID: 0152420023)</a:t>
            </a:r>
            <a:br/>
            <a:r>
              <a:t>• Khondoker Sazzad Sunfi (ID: 0152310002)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1.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• End-to-End ML Pipeline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</a:defRPr>
            </a:pPr>
            <a:r>
              <a:t>Build a robust machine learning system to predict PCOS using patient clinical, hormonal, and physical features.</a:t>
            </a:r>
          </a:p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• Data Preprocessing &amp; Cleaning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</a:defRPr>
            </a:pPr>
            <a:r>
              <a:t>Handle missing values, encode categoricals, and enforce physiological ranges to filter impossible outliers.</a:t>
            </a:r>
          </a:p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• Feature Selection Comparison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</a:defRPr>
            </a:pPr>
            <a:r>
              <a:t>Compare Correlation, Chi-Square, and RFE to identify the minimal, most clinically relevant predictor subset.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• Strict Class Imbalance Handling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</a:defRPr>
            </a:pPr>
            <a:r>
              <a:t>Apply SMOTE strictly inside cross-validation folds to handle 1:2 class imbalance without validation leakage.</a:t>
            </a:r>
          </a:p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• Explainable AI (SHAP)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</a:defRPr>
            </a:pPr>
            <a:r>
              <a:t>Incorporate SHAP explainability for global feature importance, directional effects, and individual patient predictions.</a:t>
            </a:r>
          </a:p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• Clinical Rules &amp; Cost Tiers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</a:defRPr>
            </a:pPr>
            <a:r>
              <a:t>Evaluate model value against Rotterdam criteria (Follicles ≥ 12) and cost-tiered feature acquisition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Pipeline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b="1" sz="1400">
                <a:solidFill>
                  <a:srgbClr val="0E7490"/>
                </a:solidFill>
              </a:defRPr>
            </a:pPr>
            <a:r>
              <a:t>1. Data Preprocessing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Cleaning, unit coercion, range enforcement (541 rows x 41 features).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b="1" sz="1400">
                <a:solidFill>
                  <a:srgbClr val="0E7490"/>
                </a:solidFill>
              </a:defRPr>
            </a:pPr>
            <a:r>
              <a:t>2. Data Partitioning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80% Stratified Train Set (432) / 20% Held-out Test Set (109).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b="1" sz="1400">
                <a:solidFill>
                  <a:srgbClr val="0E7490"/>
                </a:solidFill>
              </a:defRPr>
            </a:pPr>
            <a:r>
              <a:t>3. Fold-Level Processing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Imputation, Scaling, Feature Selection &amp; SMOTE applied strictly INSIDE each fold.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b="1" sz="1400">
                <a:solidFill>
                  <a:srgbClr val="0E7490"/>
                </a:solidFill>
              </a:defRPr>
            </a:pPr>
            <a:r>
              <a:t>4. Model Zoo Training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9 Classifiers &amp; Stacking Ensemble evaluated under repeated 10-fold CV.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b="1" sz="1400">
                <a:solidFill>
                  <a:srgbClr val="0E7490"/>
                </a:solidFill>
              </a:defRPr>
            </a:pPr>
            <a:r>
              <a:t>5. Held-Out Evaluation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Final scoring, SHAP explainability, decision curve &amp; cost-tier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 Cleaning &amp; Anti-Leakage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Data Cleaning &amp; Quality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Type Coercion: Converted malformed text strings in beta-HCG ('1.99.') and AMH ('a') into numeric NaNs.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Physiological Range Enforcement: Filtered impossible recording errors (e.g. BP 12/80 or hormone values 5000+) to prevent model skew.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Categorical Encoding: One-hot encoded nominal Blood Group codes; recoded Cycle Irregularity to binary.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Imputation: Median continuous &amp; mode categorical imputation fitted cleanly inside training folds.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E7490"/>
                </a:solidFill>
              </a:defRPr>
            </a:pPr>
            <a:r>
              <a:t>Strict Anti-Leakage Guarantee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Encapsulated Pipeline: Implemented using imbalanced-learn Pipeline structures.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Zero Evaluation Exposure: Every transformation (imputer, scaler, feature selector, SMOTE) is fitted ONLY on training folds.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No Test Leakage: The 20% held-out test split is sealed until final model evaluation.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Prevents Inflation: Ensures reported cross-validation and test scores reflect genuine clinical generalization.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Feature Selection &amp; Class Imbalance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Feature Selection Methods</a:t>
            </a:r>
          </a:p>
          <a:p>
            <a:pPr>
              <a:spcBef>
                <a:spcPts val="800"/>
              </a:spcBef>
              <a:defRPr b="1" sz="1300">
                <a:solidFill>
                  <a:srgbClr val="0E7490"/>
                </a:solidFill>
              </a:defRPr>
            </a:pPr>
            <a:r>
              <a:t>• Correlation-based Selection (Winner)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Removes collinear pairs (r &gt; 0.8), keeping 20 optimal predictors. Achieved highest CV ROC-AUC (0.945).</a:t>
            </a:r>
          </a:p>
          <a:p>
            <a:pPr>
              <a:spcBef>
                <a:spcPts val="800"/>
              </a:spcBef>
              <a:defRPr b="1" sz="1300">
                <a:solidFill>
                  <a:srgbClr val="0E7490"/>
                </a:solidFill>
              </a:defRPr>
            </a:pPr>
            <a:r>
              <a:t>• Chi-Square Selection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Selects top 15 features based on non-parametric independence tests against PCOS target.</a:t>
            </a:r>
          </a:p>
          <a:p>
            <a:pPr>
              <a:spcBef>
                <a:spcPts val="800"/>
              </a:spcBef>
              <a:defRPr b="1" sz="1300">
                <a:solidFill>
                  <a:srgbClr val="0E7490"/>
                </a:solidFill>
              </a:defRPr>
            </a:pPr>
            <a:r>
              <a:t>• Recursive Feature Elimination (RFE)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Fits estimators iteratively to prune 15 least informative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Handling Class Imbalance</a:t>
            </a:r>
          </a:p>
          <a:p>
            <a:pPr>
              <a:spcBef>
                <a:spcPts val="800"/>
              </a:spcBef>
              <a:defRPr b="1" sz="1300">
                <a:solidFill>
                  <a:srgbClr val="0F172A"/>
                </a:solidFill>
              </a:defRPr>
            </a:pPr>
            <a:r>
              <a:t>• Imbalance Ratio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Dataset contains 364 Non-PCOS (67%) vs 177 PCOS (33%) patients (~2:1 imbalance).</a:t>
            </a:r>
          </a:p>
          <a:p>
            <a:pPr>
              <a:spcBef>
                <a:spcPts val="800"/>
              </a:spcBef>
              <a:defRPr b="1" sz="1300">
                <a:solidFill>
                  <a:srgbClr val="0F172A"/>
                </a:solidFill>
              </a:defRPr>
            </a:pPr>
            <a:r>
              <a:t>• SMOTE Oversampling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Applied SMOTE inside training folds to generate synthetic minority samples, preventing bias toward the majority class.</a:t>
            </a:r>
          </a:p>
          <a:p>
            <a:pPr>
              <a:spcBef>
                <a:spcPts val="800"/>
              </a:spcBef>
              <a:defRPr b="1" sz="1300">
                <a:solidFill>
                  <a:srgbClr val="0F172A"/>
                </a:solidFill>
              </a:defRPr>
            </a:pPr>
            <a:r>
              <a:t>• Ablation Study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Compared SMOTE against class-weighting and no-balancing to prove its superior contribution to test recall (0.833).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3.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Dataset Specification &amp; Partitioning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b="1" sz="2000">
                <a:solidFill>
                  <a:srgbClr val="0E7490"/>
                </a:solidFill>
              </a:defRPr>
            </a:pPr>
            <a:r>
              <a:t>541 Patients</a:t>
            </a:r>
          </a:p>
          <a:p>
            <a:pPr algn="ctr"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Primary Kaggle Dataset</a:t>
            </a:r>
            <a:br/>
            <a:r>
              <a:t>(10 Hospitals, Kerala, India)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b="1" sz="2000">
                <a:solidFill>
                  <a:srgbClr val="0F172A"/>
                </a:solidFill>
              </a:defRPr>
            </a:pPr>
            <a:r>
              <a:t>80% Train / 20% Test</a:t>
            </a:r>
          </a:p>
          <a:p>
            <a:pPr algn="ctr"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432 Training Rows</a:t>
            </a:r>
            <a:br/>
            <a:r>
              <a:t>109 Held-Out Test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b="1" sz="2000">
                <a:solidFill>
                  <a:srgbClr val="0E7490"/>
                </a:solidFill>
              </a:defRPr>
            </a:pPr>
            <a:r>
              <a:t>Repeated 10-Fold CV</a:t>
            </a:r>
          </a:p>
          <a:p>
            <a:pPr algn="ctr"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3 Repeats = 30 CV Folds</a:t>
            </a:r>
            <a:br/>
            <a:r>
              <a:t>For Stability &amp; Variance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Experimental Cohort Characteristics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Target Distribution: 364 Non-PCOS patients (67.3%) vs 177 PCOS patients (32.7%).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Feature Semantics: 41 clinical, physical, hormonal (FSH, LH, AMH, TSH), and ultrasound parameters.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Held-Out Test Set: 109 patients (36 PCOS positive, 73 negative) untouched during feature selection and model choice.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Validation Protocol: Repeated Stratified 10-Fold CV (3 repeats) ensures evaluation stability on 541 instances.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3.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Model Zoo &amp; Comprehensive Evaluation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Evaluated ML Algorithms (9 Models)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Linear Models: Logistic Regression, Elastic-Net LR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Tree Ensembles: Random Forest, XGBoost, CatBoost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Kernel &amp; Instance: SVM (RBF kernel), K-Nearest Neighbors (KNN)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Probabilistic: Gaussian Naive Bayes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Meta-Ensemble: Stacking Ensemble (Combining RF, CatBoost, LR)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Multi-Metric Evaluation Framework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Discrimination: Accuracy, Precision, Recall (Sensitivity), Specificity, F1-Score, ROC-AUC.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Calibration Metrics: Brier Score, Log Loss, Expected Calibration Error (ECE).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Clinical Utility: Decision Curve Analysis (Net Benefit across threshold probabilities).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Statistical Rigor: 95% Percentile Bootstrap Confidence Intervals &amp; Paired Fold t-tests.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4.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Headline Model Results (Held-Out Test Set)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92.7%</a:t>
            </a:r>
          </a:p>
          <a:p>
            <a:pPr algn="ctr"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Held-Out Test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b="1" sz="2200">
                <a:solidFill>
                  <a:srgbClr val="0E7490"/>
                </a:solidFill>
              </a:defRPr>
            </a:pPr>
            <a:r>
              <a:t>0.945</a:t>
            </a:r>
          </a:p>
          <a:p>
            <a:pPr algn="ctr"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Test ROC-AUC (95% CI: 0.887–0.991)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b="1" sz="2200">
                <a:solidFill>
                  <a:srgbClr val="10B981"/>
                </a:solidFill>
              </a:defRPr>
            </a:pPr>
            <a:r>
              <a:t>83.3%</a:t>
            </a:r>
          </a:p>
          <a:p>
            <a:pPr algn="ctr"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Test Recall (30/36 PCOS Cases)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b="1" sz="2200">
                <a:solidFill>
                  <a:srgbClr val="0E7490"/>
                </a:solidFill>
              </a:defRPr>
            </a:pPr>
            <a:r>
              <a:t>97.3%</a:t>
            </a:r>
          </a:p>
          <a:p>
            <a:pPr algn="ctr"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Test Specificity (71/73 Healthy)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Model Cross-Validation &amp; Held-Out Test Summary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Top Performer: Stacking Ensemble (SMOTE + Correlation Feature Selection, 20 Features).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Cross-Validated ROC-AUC: 0.956 ± 0.028 across 30 CV folds.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High Specificity (97.3%): Only 2 false positive alarms out of 73 healthy patients.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Strong Recall (83.3%): Detects 30 of 36 PCOS positive cases on unseen test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4.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Quantifying the Impact of Data Leakage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Protocol Comparison: Correct vs. Leaky Validation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Ran identical classifier, data, and folds under two protocols differing ONLY in where SMOTE &amp; Feature Selection occur:</a:t>
            </a:r>
          </a:p>
          <a:p>
            <a:pPr>
              <a:spcBef>
                <a:spcPts val="1200"/>
              </a:spcBef>
              <a:defRPr b="1" sz="1300">
                <a:solidFill>
                  <a:srgbClr val="0E7490"/>
                </a:solidFill>
              </a:defRPr>
            </a:pPr>
            <a:r>
              <a:t>• Correct Protocol (Inside CV): 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Accuracy: 0.893 | Precision: 0.840 | Recall: 0.831 | F1: 0.834 | ROC-AUC: 0.951</a:t>
            </a:r>
          </a:p>
          <a:p>
            <a:pPr>
              <a:spcBef>
                <a:spcPts val="1200"/>
              </a:spcBef>
              <a:defRPr b="1" sz="1300">
                <a:solidFill>
                  <a:srgbClr val="0F172A"/>
                </a:solidFill>
              </a:defRPr>
            </a:pPr>
            <a:r>
              <a:t>• Leaky Protocol (Before CV): 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Accuracy: 0.924 | Precision: 0.924 | Recall: 0.929 | F1: 0.924 | ROC-AUC: 0.974</a:t>
            </a:r>
          </a:p>
          <a:p>
            <a:pPr>
              <a:spcBef>
                <a:spcPts val="1200"/>
              </a:spcBef>
              <a:defRPr b="1" sz="1300">
                <a:solidFill>
                  <a:srgbClr val="EF4444"/>
                </a:solidFill>
              </a:defRPr>
            </a:pPr>
            <a:r>
              <a:t>• Methodological Inflation: 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+3.2 Points Accuracy | +8.3 Points Precision | +9.8 Points Recall | +9.0 Points F1</a:t>
            </a:r>
          </a:p>
          <a:p>
            <a:pPr>
              <a:spcBef>
                <a:spcPts val="1400"/>
              </a:spcBef>
              <a:defRPr b="1" sz="1200">
                <a:solidFill>
                  <a:srgbClr val="0F172A"/>
                </a:solidFill>
              </a:defRPr>
            </a:pPr>
            <a:r>
              <a:t>Takeaway: Explains why prior literature reported 98–99% accuracy on this dataset — leaky preprocessing manufactures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4.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Cost-Tiered Feature Screening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400">
                <a:solidFill>
                  <a:srgbClr val="0E7490"/>
                </a:solidFill>
              </a:defRPr>
            </a:pPr>
            <a:r>
              <a:t>Tier 1: Questionnaire (19 Features)  —  CV ROC-AUC: 0.887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Requirements: Free form, scale &amp; tape measure  |  Impact: 93% of full model performance with NO lab or ultrasound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Tier 2: + Clinic Vitals (25 Features)  —  CV ROC-AUC: 0.880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Requirements: Basic nurse visit (BP, Pulse, Hb)  |  Impact: Adds minimal gain (−0.007 ROC-AUC change).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Tier 3: + Blood Panel (36 Features)  —  CV ROC-AUC: 0.890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Requirements: 9 Endocrine &amp; Hormone Assays  |  Impact: Entire blood panel adds only +0.011 ROC-AUC.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400">
                <a:solidFill>
                  <a:srgbClr val="0E7490"/>
                </a:solidFill>
              </a:defRPr>
            </a:pPr>
            <a:r>
              <a:t>Tier 4: + Ultrasound (41 Features)  —  CV ROC-AUC: 0.952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Requirements: Sonographer &amp; Ultrasound machine  |  Impact: Only tier offering major improvement (+0.062 ROC-AUC).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5. RESULT ANALYSIS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Explainable AI (SHAP Importance &amp; Directional Effects)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Top Predictors (SHAP Ranking)</a:t>
            </a:r>
          </a:p>
          <a:p>
            <a:pPr>
              <a:spcBef>
                <a:spcPts val="800"/>
              </a:spcBef>
              <a:defRPr b="1" sz="1300">
                <a:solidFill>
                  <a:srgbClr val="0E7490"/>
                </a:solidFill>
              </a:defRPr>
            </a:pPr>
            <a:r>
              <a:t>• 1. Follicle No. (Right &amp; Left)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Primary discriminative predictor by a wide margin.</a:t>
            </a:r>
          </a:p>
          <a:p>
            <a:pPr>
              <a:spcBef>
                <a:spcPts val="800"/>
              </a:spcBef>
              <a:defRPr b="1" sz="1300">
                <a:solidFill>
                  <a:srgbClr val="0E7490"/>
                </a:solidFill>
              </a:defRPr>
            </a:pPr>
            <a:r>
              <a:t>• 2. Skin Darkening (Y/N)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Strong physical symptom marker for hyperinsulinemia.</a:t>
            </a:r>
          </a:p>
          <a:p>
            <a:pPr>
              <a:spcBef>
                <a:spcPts val="800"/>
              </a:spcBef>
              <a:defRPr b="1" sz="1300">
                <a:solidFill>
                  <a:srgbClr val="0E7490"/>
                </a:solidFill>
              </a:defRPr>
            </a:pPr>
            <a:r>
              <a:t>• 3. Cycle Length &amp; Irregularity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Primary menstrual dysfunction indicator.</a:t>
            </a:r>
          </a:p>
          <a:p>
            <a:pPr>
              <a:spcBef>
                <a:spcPts val="800"/>
              </a:spcBef>
              <a:defRPr b="1" sz="1300">
                <a:solidFill>
                  <a:srgbClr val="0E7490"/>
                </a:solidFill>
              </a:defRPr>
            </a:pPr>
            <a:r>
              <a:t>• 4. Hair Growth &amp; Hair Loss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Key clinical signs of hyperandrogenism.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Clinical Alignment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Rotterdam Criteria Mirroring: SHAP confirms the ML model naturally recovers the 3 pillars of Rotterdam criteria (ovarian morphology, hyperandrogenism, irregular cycles).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No Black-Box Paradox: Explanations provide clinicians with transparent feature-level rationale for every prediction.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Individual Patient Waterfalls: Per-patient waterfall plots highlight patient-specific risk drivers.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5. RESULT ANALYSIS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Clinical Rule Baseline vs.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Rotterdam Rule (Follicles ≥ 12) vs. ML Models</a:t>
            </a:r>
          </a:p>
          <a:p>
            <a:pPr>
              <a:spcBef>
                <a:spcPts val="1000"/>
              </a:spcBef>
              <a:defRPr b="1" sz="1300">
                <a:solidFill>
                  <a:srgbClr val="0F172A"/>
                </a:solidFill>
              </a:defRPr>
            </a:pPr>
            <a:r>
              <a:t>• Rotterdam Rule Performance: 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 zero-parameter clinical rule (Follicles ≥ 12) achieves 0.903 CV AUC, proving follicle count carries most discriminative signal.</a:t>
            </a:r>
          </a:p>
          <a:p>
            <a:pPr>
              <a:spcBef>
                <a:spcPts val="1000"/>
              </a:spcBef>
              <a:defRPr b="1" sz="1300">
                <a:solidFill>
                  <a:srgbClr val="0F172A"/>
                </a:solidFill>
              </a:defRPr>
            </a:pPr>
            <a:r>
              <a:t>• The Clinical Recall Gap: 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The Rotterdam rule achieves high specificity (0.986) but low recall (0.611), missing 14 of 36 PCOS cases in the test set.</a:t>
            </a:r>
          </a:p>
          <a:p>
            <a:pPr>
              <a:spcBef>
                <a:spcPts val="1000"/>
              </a:spcBef>
              <a:defRPr b="1" sz="1300">
                <a:solidFill>
                  <a:srgbClr val="0E7490"/>
                </a:solidFill>
              </a:defRPr>
            </a:pPr>
            <a:r>
              <a:t>• ML Value-Add: 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ML models boost Recall from 61.1% to 83.3% (+8 additional PCOS cases detected) with negligible specificity drop (0.973).</a:t>
            </a:r>
          </a:p>
          <a:p>
            <a:pPr>
              <a:spcBef>
                <a:spcPts val="1000"/>
              </a:spcBef>
              <a:defRPr b="1" sz="1300">
                <a:solidFill>
                  <a:srgbClr val="0F172A"/>
                </a:solidFill>
              </a:defRPr>
            </a:pPr>
            <a:r>
              <a:t>• Screening Utility: 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For screening applications, catching 33% more PCOS cases makes ML significantly superior to rigid threshold rules.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5. RESULT ANALYSIS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Result Analysis &amp; Core Discussion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Algorithm Equivalence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8 of 9 Models Perform Similarly: Cross-validated ROC-AUC spans 0.946–0.956 for 8 models (only KNN lags at 0.927).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No Single Winner: Across 30 random splits, 8 different models won at least once (Naive Bayes won 40%, RF 30%, Stacking 20%).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Avoid Over-claiming: Declaring a single 'best algorithm' from a single split is reporting sampling noise.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Clinical Deployment Strategy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Questionnaire Triage: Tier 1 questionnaire model (0.887 AUC) is deployable by health workers with a clipboard in low-resource settings.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Ultrasound Optimization: Budget should be spent expanding ultrasound access for questionnaire-flagged patients rather than routine blood panels.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Net Benefit: Decision curve analysis confirms ML screening yields positive net benefit across all threshold probabilities 10%–50%.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5. RESULT ANALYSIS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Study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Identified Methodological &amp; Data Limitations</a:t>
            </a:r>
          </a:p>
          <a:p>
            <a:pPr>
              <a:spcBef>
                <a:spcPts val="1000"/>
              </a:spcBef>
              <a:defRPr b="1" sz="1300">
                <a:solidFill>
                  <a:srgbClr val="EF4444"/>
                </a:solidFill>
              </a:defRPr>
            </a:pPr>
            <a:r>
              <a:t>• Sample Size Imprecision: 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With 36 PCOS positive cases in the test set, 95% bootstrap CIs for recall span [70%, 94%]. Single-split performance numbers carry inherent sampling variance.</a:t>
            </a:r>
          </a:p>
          <a:p>
            <a:pPr>
              <a:spcBef>
                <a:spcPts val="1000"/>
              </a:spcBef>
              <a:defRPr b="1" sz="1300">
                <a:solidFill>
                  <a:srgbClr val="EF4444"/>
                </a:solidFill>
              </a:defRPr>
            </a:pPr>
            <a:r>
              <a:t>• Unblinded Clinical Labels: 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Upstream clinical diagnosis and predictor recording were performed by the same clinicians without blinding, introducing potential label circularity.</a:t>
            </a:r>
          </a:p>
          <a:p>
            <a:pPr>
              <a:spcBef>
                <a:spcPts val="1000"/>
              </a:spcBef>
              <a:defRPr b="1" sz="1300">
                <a:solidFill>
                  <a:srgbClr val="EF4444"/>
                </a:solidFill>
              </a:defRPr>
            </a:pPr>
            <a:r>
              <a:t>• Absence of Raw Imaging Data: 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Dataset provides numerical follicle counts extracted from scans, but no raw ultrasound image files.</a:t>
            </a:r>
          </a:p>
          <a:p>
            <a:pPr>
              <a:spcBef>
                <a:spcPts val="1000"/>
              </a:spcBef>
              <a:defRPr b="1" sz="1300">
                <a:solidFill>
                  <a:srgbClr val="EF4444"/>
                </a:solidFill>
              </a:defRPr>
            </a:pPr>
            <a:r>
              <a:t>• Scope Scoping: 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Coursework prediction project intended as a clinical decision support and screening triage tool, not an autonomous diagnostic device.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 rIns="731520"/>
          <a:lstStyle/>
          <a:p>
            <a:pPr algn="ctr">
              <a:defRPr sz="1200" b="1">
                <a:solidFill>
                  <a:srgbClr val="0E7490"/>
                </a:solidFill>
              </a:defRPr>
            </a:pPr>
            <a:r>
              <a:t>CONCLUSION &amp; SUMMARY</a:t>
            </a:r>
          </a:p>
          <a:p>
            <a:pPr>
              <a:spcBef>
                <a:spcPts val="1000"/>
              </a:spcBef>
              <a:defRPr sz="3200" b="1">
                <a:solidFill>
                  <a:srgbClr val="0F172A"/>
                </a:solidFill>
              </a:defRPr>
            </a:pPr>
            <a:r>
              <a:t>Thank You!</a:t>
            </a:r>
          </a:p>
          <a:p>
            <a:pPr>
              <a:spcBef>
                <a:spcPts val="1500"/>
              </a:spcBef>
              <a:defRPr sz="1400" b="1">
                <a:solidFill>
                  <a:srgbClr val="0F172A"/>
                </a:solidFill>
              </a:defRPr>
            </a:pPr>
            <a:r>
              <a:t>Summary of Contributions: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Developed a leak-free, explainable, and cost-aware ML pipeline for PCOS prediction.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Proved that rigorous fold-level validation eliminates artificial accuracy inflation.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Demonstrated high screening utility (92.7% accuracy, 83.3% recall, 97.3% specificity).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Showed questionnaire-only models offer strong 0.887 AUC triage for low-resource settings.</a:t>
            </a:r>
          </a:p>
          <a:p>
            <a:br/>
            <a:pPr>
              <a:spcBef>
                <a:spcPts val="1500"/>
              </a:spcBef>
              <a:defRPr sz="1800" b="1">
                <a:solidFill>
                  <a:srgbClr val="0E7490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