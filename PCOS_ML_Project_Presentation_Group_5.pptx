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17578"/>
            </a:solidFill>
            <a:ln>
              <a:solidFill>
                <a:srgbClr val="217578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KNN</c:v>
                </c:pt>
                <c:pt idx="1">
                  <c:v>SVM</c:v>
                </c:pt>
                <c:pt idx="2">
                  <c:v>Logistic LR</c:v>
                </c:pt>
                <c:pt idx="3">
                  <c:v>Elastic-Net LR</c:v>
                </c:pt>
                <c:pt idx="4">
                  <c:v>XGBoost</c:v>
                </c:pt>
                <c:pt idx="5">
                  <c:v>GNB</c:v>
                </c:pt>
                <c:pt idx="6">
                  <c:v>CatBoost</c:v>
                </c:pt>
                <c:pt idx="7">
                  <c:v>Random Forest</c:v>
                </c:pt>
                <c:pt idx="8">
                  <c:v>Stacking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0.92700000000000005</c:v>
                </c:pt>
                <c:pt idx="1">
                  <c:v>0.94599999999999995</c:v>
                </c:pt>
                <c:pt idx="2">
                  <c:v>0.94699999999999995</c:v>
                </c:pt>
                <c:pt idx="3">
                  <c:v>0.94699999999999995</c:v>
                </c:pt>
                <c:pt idx="4">
                  <c:v>0.94899999999999995</c:v>
                </c:pt>
                <c:pt idx="5">
                  <c:v>0.95</c:v>
                </c:pt>
                <c:pt idx="6">
                  <c:v>0.95199999999999996</c:v>
                </c:pt>
                <c:pt idx="7">
                  <c:v>0.95399999999999996</c:v>
                </c:pt>
                <c:pt idx="8">
                  <c:v>0.95599999999999996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757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70-4A3F-89D7-84EFFF9D20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7"/>
          <c:min val="0.9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  <c:majorUnit val="0.0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217578"/>
            </a:solidFill>
            <a:ln>
              <a:solidFill>
                <a:srgbClr val="217578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Questionnaire</c:v>
                </c:pt>
                <c:pt idx="1">
                  <c:v>Clinic vitals</c:v>
                </c:pt>
                <c:pt idx="2">
                  <c:v>Blood tests</c:v>
                </c:pt>
                <c:pt idx="3">
                  <c:v>Ultrasound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0.88700000000000001</c:v>
                </c:pt>
                <c:pt idx="1">
                  <c:v>0.88</c:v>
                </c:pt>
                <c:pt idx="2">
                  <c:v>0.89</c:v>
                </c:pt>
                <c:pt idx="3">
                  <c:v>0.95199999999999996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1757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8C-4A2D-AE80-ED6415E4E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7"/>
          <c:min val="0.84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  <c:majorUnit val="0.0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594360"/>
            <a:ext cx="1143000" cy="1143000"/>
          </a:xfrm>
          <a:prstGeom prst="ellipse">
            <a:avLst/>
          </a:prstGeom>
          <a:noFill/>
          <a:ln w="19050">
            <a:solidFill>
              <a:srgbClr val="2175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14432" y="1170432"/>
            <a:ext cx="594360" cy="594360"/>
          </a:xfrm>
          <a:prstGeom prst="ellipse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8503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Predicting Polycystic
Ovary Syndrome (PCOS)
with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1635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3DE"/>
                </a:solidFill>
                <a:latin typeface="Aptos"/>
              </a:rPr>
              <a:t>A defensible screening approach built from clinical and routine measurements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6629400" cy="1664208"/>
          </a:xfrm>
          <a:prstGeom prst="roundRect">
            <a:avLst/>
          </a:prstGeom>
          <a:solidFill>
            <a:srgbClr val="22364D"/>
          </a:solidFill>
          <a:ln w="10160">
            <a:solidFill>
              <a:srgbClr val="3C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0507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ED5D2"/>
                </a:solidFill>
                <a:latin typeface="Aptos"/>
              </a:rPr>
              <a:t>GROUP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8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Fatema Ferdous  ·  0152410052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Wafa Haque  ·  0152420023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Khondoker Sazzad Sunfi  ·  0152310002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9C7D5"/>
                </a:solidFill>
                <a:latin typeface="Aptos"/>
              </a:rPr>
              <a:t>PCOS  →  DATA  →  MODEL  →  SCREENING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337560"/>
            <a:ext cx="896112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C2D42"/>
                </a:solidFill>
                <a:latin typeface="Aptos"/>
              </a:rP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62872" y="3584448"/>
            <a:ext cx="173736" cy="0"/>
          </a:xfrm>
          <a:prstGeom prst="line">
            <a:avLst/>
          </a:prstGeom>
          <a:ln w="2540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45752" y="3337560"/>
            <a:ext cx="896112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45752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C2D42"/>
                </a:solidFill>
                <a:latin typeface="Aptos"/>
              </a:rPr>
              <a:t>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41864" y="3584448"/>
            <a:ext cx="173736" cy="0"/>
          </a:xfrm>
          <a:prstGeom prst="line">
            <a:avLst/>
          </a:prstGeom>
          <a:ln w="2540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24744" y="3337560"/>
            <a:ext cx="896112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24744" y="3447288"/>
            <a:ext cx="8961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C2D42"/>
                </a:solidFill>
                <a:latin typeface="Aptos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25196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Public dataset
541 women · 41 measurements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3712" y="6556248"/>
            <a:ext cx="2391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8B7C6"/>
                </a:solidFill>
                <a:latin typeface="Aptos"/>
              </a:defRPr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PROJECT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4650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Build a machine learning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Predict whether a patient is likely to have PCOS from routine measurements.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0791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15383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174650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Compare multiple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3" y="2286000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Evaluate nine algorithms under the same testing protocol.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1627632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177393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74650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Handle data imbalance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286000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Reduce the effect of the 2:1 class imbalance using SMOTE inside the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22191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Select useful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61688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Keep informative measurements while reducing irrelevant noise.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15383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822191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Evaluate reliably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4361688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Use a held-out test set and repeated cross-validation to reduce optimistic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3703320"/>
            <a:ext cx="324612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384962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822191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Understand predictions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361688"/>
            <a:ext cx="28803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Use SHAP and result analysis to identify the signals driving model predictions.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A fixed pipeline keeps every preprocessing decision inside the evaluation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541 women
41 measurements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47088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5681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Remove impossible
values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27248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697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Impute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Fill missing
values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7407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713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Put measurements
on comparable scales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784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87568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9729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729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729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Keep informative
features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67728" y="1874519"/>
            <a:ext cx="1170432" cy="233172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7456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SMOTE on
training data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38160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47887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57615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Predict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5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9 ML
algorithms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418319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28047" y="1874519"/>
            <a:ext cx="117043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37775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7775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Evaluate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7775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CV + held-out
20% test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98479" y="3035808"/>
            <a:ext cx="109728" cy="0"/>
          </a:xfrm>
          <a:prstGeom prst="line">
            <a:avLst/>
          </a:prstGeom>
          <a:ln w="17780">
            <a:solidFill>
              <a:srgbClr val="217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808207" y="1874519"/>
            <a:ext cx="1170432" cy="233172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17935" y="2002536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17578"/>
                </a:solidFill>
                <a:latin typeface="Aptos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7935" y="2404872"/>
            <a:ext cx="950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2D42"/>
                </a:solidFill>
                <a:latin typeface="Aptos"/>
              </a:rPr>
              <a:t>Explain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7935" y="2953511"/>
            <a:ext cx="95097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Aptos"/>
              </a:rPr>
              <a:t>SHAP +
result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4709160"/>
            <a:ext cx="10835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C2D42"/>
                </a:solidFill>
                <a:latin typeface="Aptos"/>
              </a:rPr>
              <a:t>Critical design choice: preprocessing, feature selection and balancing are recalculated inside the pipeline for each training fold.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5285232"/>
            <a:ext cx="8458200" cy="713232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93392" y="5458968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C2D42"/>
                </a:solidFill>
                <a:latin typeface="Aptos"/>
              </a:rPr>
              <a:t>20% held out at the start  •  80% used for model development  •  Test set remains unseen until the end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Dataset, split, validation and 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15468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5528" y="1847088"/>
            <a:ext cx="1298448" cy="1024128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02536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541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patients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1847088"/>
            <a:ext cx="1298448" cy="1024128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2002536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42032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measurements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3063240"/>
            <a:ext cx="1298448" cy="1024128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18688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177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4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PCOS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2848" y="3063240"/>
            <a:ext cx="1298448" cy="1024128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40" y="3218688"/>
            <a:ext cx="9692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364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58184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non-PCOS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370832"/>
            <a:ext cx="2724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B78"/>
                </a:solidFill>
                <a:latin typeface="Aptos"/>
              </a:rPr>
              <a:t>Public dataset from 10 hospitals in Kerala, India.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239512"/>
            <a:ext cx="27249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5E6B78"/>
                </a:solidFill>
                <a:latin typeface="Aptos"/>
              </a:rPr>
              <a:t>Clinical, hormonal, physical, symptom and ultrasound-related measurements.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1243584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1648" y="1572768"/>
            <a:ext cx="324612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1856231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856231"/>
            <a:ext cx="18105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D42"/>
                </a:solidFill>
                <a:latin typeface="Aptos"/>
              </a:rPr>
              <a:t>80% training  /  20% held-out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642615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642615"/>
            <a:ext cx="18105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D42"/>
                </a:solidFill>
                <a:latin typeface="Aptos"/>
              </a:rPr>
              <a:t>Repeated cross-validation on training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428999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Balancing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428999"/>
            <a:ext cx="18105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D42"/>
                </a:solidFill>
                <a:latin typeface="Aptos"/>
              </a:rPr>
              <a:t>SMOTE applied only within training folds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215383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215383"/>
            <a:ext cx="18105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D42"/>
                </a:solidFill>
                <a:latin typeface="Aptos"/>
              </a:rPr>
              <a:t>Correlation, Chi-Square and RFE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5001768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5001768"/>
            <a:ext cx="181051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1C2D42"/>
                </a:solidFill>
                <a:latin typeface="Aptos"/>
              </a:rPr>
              <a:t>Accuracy · Sensitivity · Specificity · AUC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1243584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572768"/>
            <a:ext cx="3968496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09560" y="1856231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1874519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Logistic Regression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2523744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2542032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Elastic-Net Logistic Regression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3191256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320954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SVM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9560" y="3858768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387705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KNN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09560" y="4526279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4544567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Gaussian Naive Bayes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20072" y="1856231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20072" y="1874519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Random Forest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20072" y="2523744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20072" y="2542032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XGBoost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20072" y="3191256"/>
            <a:ext cx="1627632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20072" y="3209544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CatBoost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20072" y="3858768"/>
            <a:ext cx="1627632" cy="329184"/>
          </a:xfrm>
          <a:prstGeom prst="roundRect">
            <a:avLst/>
          </a:prstGeom>
          <a:solidFill>
            <a:srgbClr val="E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20072" y="3877055"/>
            <a:ext cx="16276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Stacking Ensemble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422392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E6B78"/>
                </a:solidFill>
                <a:latin typeface="Aptos"/>
              </a:rPr>
              <a:t>Primary comparison: ROC-AUC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Held-out test performance of the final screening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HEADLINE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2514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92.7%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218541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64208"/>
            <a:ext cx="2514600" cy="141732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83.3%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359152"/>
            <a:ext cx="218541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Sensitivity /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25312" y="1664208"/>
            <a:ext cx="2514600" cy="1417320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97.3%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359152"/>
            <a:ext cx="218541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Specificity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4504" y="1664208"/>
            <a:ext cx="2514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9096" y="1819656"/>
            <a:ext cx="21854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0.945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359152"/>
            <a:ext cx="218541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ROC-AUC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56432"/>
            <a:ext cx="6583680" cy="1874519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703320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8ED5D2"/>
                </a:solidFill>
                <a:latin typeface="Aptos"/>
              </a:rPr>
              <a:t>WHAT THIS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096512"/>
            <a:ext cx="59893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The model correctly classifies most held-out cases and is especially strong at ruling out non-PCOS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3456432"/>
            <a:ext cx="3739896" cy="1874519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E0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368503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17578"/>
                </a:solidFill>
                <a:latin typeface="Aptos"/>
              </a:rPr>
              <a:t>KEY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096512"/>
            <a:ext cx="3246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A defensible ~93% result is more informative than an inflated 98–99% score produced by flawed testing.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733288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E6B78"/>
                </a:solidFill>
                <a:latin typeface="Aptos"/>
              </a:rPr>
              <a:t>This is a coursework screening model — not a standalone medical diagnostic device.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Nine algorithms were compared under the same evaluation framework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481328"/>
          <a:ext cx="6949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72768"/>
            <a:ext cx="34290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2"/>
                </a:solidFill>
                <a:latin typeface="Aptos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423160"/>
            <a:ext cx="27432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5E6B78"/>
                </a:solidFill>
                <a:latin typeface="Aptos"/>
              </a:rPr>
              <a:t>The models cluster tightly near 0.95 AUC. The spread is small, while KNN is clearly weaker.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913632"/>
            <a:ext cx="1874519" cy="329184"/>
          </a:xfrm>
          <a:prstGeom prst="roundRect">
            <a:avLst/>
          </a:prstGeom>
          <a:solidFill>
            <a:srgbClr val="E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393192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Top: Stacking 0.956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416552"/>
            <a:ext cx="1874519" cy="329184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43484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RF: 0.954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919472"/>
            <a:ext cx="1874519" cy="329184"/>
          </a:xfrm>
          <a:prstGeom prst="roundRect">
            <a:avLst/>
          </a:prstGeom>
          <a:solidFill>
            <a:srgbClr val="F0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4937759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C2D42"/>
                </a:solidFill>
                <a:latin typeface="Aptos"/>
              </a:rPr>
              <a:t>KNN: 0.927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44982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No single model dominates every split.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Result Analysis I — Evaluation Method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The same model can look better simply because the testing procedure is flawed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LEAKAGE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CORRECT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Split patients first → then apply SMOTE using training data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18688"/>
            <a:ext cx="1920240" cy="114300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6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0.893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913632"/>
            <a:ext cx="1591056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33756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B78"/>
                </a:solidFill>
                <a:latin typeface="Aptos"/>
              </a:rPr>
              <a:t>Reliable estimate
because the test set stays unseen.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6420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920240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17578"/>
                </a:solidFill>
                <a:latin typeface="Aptos"/>
              </a:rPr>
              <a:t>LEAKY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359152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D42"/>
                </a:solidFill>
                <a:latin typeface="Aptos"/>
              </a:rPr>
              <a:t>Create synthetic samples first → then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218688"/>
            <a:ext cx="1920240" cy="1143000"/>
          </a:xfrm>
          <a:prstGeom prst="roundRect">
            <a:avLst/>
          </a:prstGeom>
          <a:solidFill>
            <a:srgbClr val="E6EDF5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374136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C2D42"/>
                </a:solidFill>
                <a:latin typeface="Aptos"/>
              </a:rPr>
              <a:t>0.924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913632"/>
            <a:ext cx="1591056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B78"/>
                </a:solidFill>
                <a:latin typeface="Aptos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33756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B78"/>
                </a:solidFill>
                <a:latin typeface="Aptos"/>
              </a:rPr>
              <a:t>Artificial inflation
from overlap between training and test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5440680"/>
            <a:ext cx="10012680" cy="658368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5596128"/>
            <a:ext cx="9692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+3.2 percentage points accuracy inflation  •  +9.2% F1 inflation  •  98–99% headlines can be testing-method dependent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Result Analysis II — Practical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What the model learns, what testing adds, and where the value really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TESTING TIERS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30352" y="1572768"/>
          <a:ext cx="5349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" y="5148072"/>
            <a:ext cx="4983480" cy="685800"/>
          </a:xfrm>
          <a:prstGeom prst="roundRect">
            <a:avLst/>
          </a:prstGeom>
          <a:solidFill>
            <a:srgbClr val="E0F0ED"/>
          </a:solidFill>
          <a:ln w="10160">
            <a:solidFill>
              <a:srgbClr val="E0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312664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D42"/>
                </a:solidFill>
                <a:latin typeface="Aptos"/>
              </a:rPr>
              <a:t>Questionnaire-only AUC = 0.887 — about 93% of the full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22529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MODEL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72768"/>
            <a:ext cx="52120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D42"/>
                </a:solidFill>
                <a:latin typeface="Aptos"/>
              </a:rPr>
              <a:t>Top SHAP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13432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Follicle count (R)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2322575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73568" y="2322575"/>
            <a:ext cx="2697480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569463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Follicle count (L)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2578607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3568" y="2578607"/>
            <a:ext cx="2427732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25496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Weight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2834639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2834639"/>
            <a:ext cx="1807311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81528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Skin darkening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3568" y="3090672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73568" y="3090672"/>
            <a:ext cx="1402689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B78"/>
                </a:solidFill>
                <a:latin typeface="Aptos"/>
              </a:rPr>
              <a:t>Hair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8" y="3346703"/>
            <a:ext cx="2697480" cy="118872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73568" y="3346703"/>
            <a:ext cx="1240840" cy="118872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44768" y="3858768"/>
            <a:ext cx="5212080" cy="1975104"/>
          </a:xfrm>
          <a:prstGeom prst="roundRect">
            <a:avLst/>
          </a:prstGeom>
          <a:solidFill>
            <a:srgbClr val="1C2D42"/>
          </a:solidFill>
          <a:ln w="1016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ML vs. the 2003 follicle-count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5371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8ED5D2"/>
                </a:solidFill>
                <a:latin typeface="Aptos"/>
              </a:rPr>
              <a:t>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553712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22 / 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5371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8D3DE"/>
                </a:solidFill>
                <a:latin typeface="Aptos"/>
              </a:rPr>
              <a:t>PCOS cases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10912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8ED5D2"/>
                </a:solidFill>
                <a:latin typeface="Aptos"/>
              </a:rPr>
              <a:t>ML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010912"/>
            <a:ext cx="914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30 / 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01091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8D3DE"/>
                </a:solidFill>
                <a:latin typeface="Aptos"/>
              </a:rPr>
              <a:t>PCOS cases found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68112"/>
            <a:ext cx="4526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ptos"/>
              </a:rPr>
              <a:t>8 additional cases detected, with 1 additional false alarm.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D42"/>
                </a:solidFill>
                <a:latin typeface="Aptos Display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E6B78"/>
                </a:solidFill>
                <a:latin typeface="Aptos"/>
              </a:rPr>
              <a:t>A strong project is transparent about what the model cannot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344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17578"/>
                </a:solidFill>
                <a:latin typeface="Aptos"/>
              </a:rPr>
              <a:t>KNOWN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792224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Small test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Only 36 PCOS-positive cases were in the held-out test set, so estimates remain imprecise.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24528" y="1792224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Single-center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249424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The dataset is from hospitals in Kerala, India; testing on broader populations remains future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8" y="1627632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1792224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Potential label circularity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249424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Follicle count is a top predictor and also part of the diagnostic criteria used to record PCOS.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986783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No ultrasound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43983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The dataset contains follicle counts from scans, but not the original ultrasound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24528" y="3986783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Possible unblinded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4443983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Some symptoms may have been recorded when PCOS was already suspected.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8" y="3822191"/>
            <a:ext cx="324612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3986783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D42"/>
                </a:solidFill>
                <a:latin typeface="Aptos"/>
              </a:rPr>
              <a:t>Not a medical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4443983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B78"/>
                </a:solidFill>
                <a:latin typeface="Aptos"/>
              </a:rPr>
              <a:t>This is a coursework screening model. Clinical diagnosis still requires a qualified clinician.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B7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ED5D2"/>
                </a:solidFill>
                <a:latin typeface="Aptos"/>
              </a:rPr>
              <a:t>GROUP 5  •  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5292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8D3DE"/>
                </a:solidFill>
                <a:latin typeface="Aptos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3749039"/>
            <a:ext cx="4114800" cy="22860"/>
          </a:xfrm>
          <a:prstGeom prst="rect">
            <a:avLst/>
          </a:prstGeom>
          <a:solidFill>
            <a:srgbClr val="217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4251960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Predicting Polycystic Ovary Syndrome (PCOS) with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9204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9C7D5"/>
                </a:solidFill>
                <a:latin typeface="Aptos"/>
              </a:rPr>
              <a:t>Fatema Ferdous  ·  Wafa Haque  ·  Khondoker Sazzad Sunfi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09960" cy="10972"/>
          </a:xfrm>
          <a:prstGeom prst="rect">
            <a:avLst/>
          </a:prstGeom>
          <a:solidFill>
            <a:srgbClr val="3C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01400" y="65562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8B7C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854</Words>
  <Application>Microsoft Office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2026-10-05T20:10:27Z</dcterms:modified>
  <cp:category/>
</cp:coreProperties>
</file>