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17578"/>
            </a:solidFill>
            <a:ln>
              <a:solidFill>
                <a:srgbClr val="217578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KNN</c:v>
                </c:pt>
                <c:pt idx="1">
                  <c:v>SVM</c:v>
                </c:pt>
                <c:pt idx="2">
                  <c:v>Logistic LR</c:v>
                </c:pt>
                <c:pt idx="3">
                  <c:v>Elastic-Net LR</c:v>
                </c:pt>
                <c:pt idx="4">
                  <c:v>XGBoost</c:v>
                </c:pt>
                <c:pt idx="5">
                  <c:v>GNB</c:v>
                </c:pt>
                <c:pt idx="6">
                  <c:v>CatBoost</c:v>
                </c:pt>
                <c:pt idx="7">
                  <c:v>Random Forest</c:v>
                </c:pt>
                <c:pt idx="8">
                  <c:v>Stacking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0.92700000000000005</c:v>
                </c:pt>
                <c:pt idx="1">
                  <c:v>0.94599999999999995</c:v>
                </c:pt>
                <c:pt idx="2">
                  <c:v>0.94699999999999995</c:v>
                </c:pt>
                <c:pt idx="3">
                  <c:v>0.94699999999999995</c:v>
                </c:pt>
                <c:pt idx="4">
                  <c:v>0.94899999999999995</c:v>
                </c:pt>
                <c:pt idx="5">
                  <c:v>0.95</c:v>
                </c:pt>
                <c:pt idx="6">
                  <c:v>0.95199999999999996</c:v>
                </c:pt>
                <c:pt idx="7">
                  <c:v>0.95399999999999996</c:v>
                </c:pt>
                <c:pt idx="8">
                  <c:v>0.95599999999999996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1757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70-4A3F-89D7-84EFFF9D20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7"/>
          <c:min val="0.9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0.01"/>
      </c:valAx>
    </c:plotArea>
    <c:plotVisOnly val="1"/>
    <c:dispBlanksAs val="gap"/>
    <c:showDLblsOverMax val="1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217578"/>
            </a:solidFill>
            <a:ln>
              <a:solidFill>
                <a:srgbClr val="217578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Questionnaire</c:v>
                </c:pt>
                <c:pt idx="1">
                  <c:v>Clinic vitals</c:v>
                </c:pt>
                <c:pt idx="2">
                  <c:v>Blood tests</c:v>
                </c:pt>
                <c:pt idx="3">
                  <c:v>Ultrasound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0.88700000000000001</c:v>
                </c:pt>
                <c:pt idx="1">
                  <c:v>0.88</c:v>
                </c:pt>
                <c:pt idx="2">
                  <c:v>0.89</c:v>
                </c:pt>
                <c:pt idx="3">
                  <c:v>0.95199999999999996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1757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48C-4A2D-AE80-ED6415E4E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7"/>
          <c:min val="0.84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  <c:majorUnit val="0.0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724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4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3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6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33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31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23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6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5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47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93683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06488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95423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50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36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68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02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240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050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419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6122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09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988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003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516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308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1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594360"/>
            <a:ext cx="1143000" cy="114300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17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14432" y="1170432"/>
            <a:ext cx="594360" cy="5943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8503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Arial"/>
              </a:rPr>
              <a:t>Predicting Polycystic
Ovary Syndrome (PCOS)
with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6352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A defensible screening approach built from clinical and routine measurements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6629400" cy="16642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40507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GROUP 5 — 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07408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sz="1900" b="1">
                <a:solidFill>
                  <a:srgbClr val="0F172A"/>
                </a:solidFill>
                <a:latin typeface="Arial"/>
              </a:rPr>
              <a:t>Fatema Ferdous   </a:t>
            </a:r>
            <a:r>
              <a:rPr sz="1600">
                <a:solidFill>
                  <a:srgbClr val="94A3B8"/>
                </a:solidFill>
                <a:latin typeface="Arial"/>
              </a:rPr>
              <a:t>•   </a:t>
            </a:r>
            <a:r>
              <a:rPr sz="1800" b="1">
                <a:solidFill>
                  <a:srgbClr val="2563EB"/>
                </a:solidFill>
                <a:latin typeface="Arial"/>
              </a:rPr>
              <a:t>ID: 0152410052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Wafa Haque   </a:t>
            </a:r>
            <a:r>
              <a:rPr sz="1600">
                <a:solidFill>
                  <a:srgbClr val="94A3B8"/>
                </a:solidFill>
                <a:latin typeface="Arial"/>
              </a:rPr>
              <a:t>•   </a:t>
            </a:r>
            <a:r>
              <a:rPr sz="1800" b="1">
                <a:solidFill>
                  <a:srgbClr val="2563EB"/>
                </a:solidFill>
                <a:latin typeface="Arial"/>
              </a:rPr>
              <a:t>ID: 0152420023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Khondoker Sazzad Sunfi   </a:t>
            </a:r>
            <a:r>
              <a:rPr sz="1600">
                <a:solidFill>
                  <a:srgbClr val="94A3B8"/>
                </a:solidFill>
                <a:latin typeface="Arial"/>
              </a:rPr>
              <a:t>•   </a:t>
            </a:r>
            <a:r>
              <a:rPr sz="1800" b="1">
                <a:solidFill>
                  <a:srgbClr val="2563EB"/>
                </a:solidFill>
                <a:latin typeface="Arial"/>
              </a:rPr>
              <a:t>ID: 0152310002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ptos"/>
              </a:rPr>
              <a:t>PCOS  →  DATA  →  MODEL  →  SCREENING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337560"/>
            <a:ext cx="896112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3447288"/>
            <a:ext cx="8961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  <a:latin typeface="Aptos"/>
              </a:rPr>
              <a:t>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62872" y="3584448"/>
            <a:ext cx="173736" cy="0"/>
          </a:xfrm>
          <a:prstGeom prst="line">
            <a:avLst/>
          </a:prstGeom>
          <a:ln w="2540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45752" y="3337560"/>
            <a:ext cx="896112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45752" y="3447288"/>
            <a:ext cx="8961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  <a:latin typeface="Aptos"/>
              </a:rPr>
              <a:t>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41864" y="3584448"/>
            <a:ext cx="173736" cy="0"/>
          </a:xfrm>
          <a:prstGeom prst="line">
            <a:avLst/>
          </a:prstGeom>
          <a:ln w="2540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24744" y="3337560"/>
            <a:ext cx="896112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24744" y="3447288"/>
            <a:ext cx="8961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  <a:latin typeface="Aptos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25196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Aptos"/>
              </a:rPr>
              <a:t>Public dataset
541 women · 41 measurements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9142" y="181265"/>
            <a:ext cx="4453207" cy="939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7448"/>
              </a:lnSpc>
            </a:pPr>
            <a:r>
              <a:rPr lang="en-US" sz="4000" b="1" dirty="0">
                <a:solidFill>
                  <a:srgbClr val="08284B"/>
                </a:solidFill>
                <a:latin typeface="Inter Bold"/>
                <a:ea typeface="Inter Bold"/>
                <a:cs typeface="Inter Bold"/>
                <a:sym typeface="Inter Bold"/>
              </a:rPr>
              <a:t>Research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46504"/>
            <a:ext cx="24231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D42"/>
                </a:solidFill>
                <a:latin typeface="Aptos"/>
              </a:rPr>
              <a:t>Build a machine learning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68295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B78"/>
                </a:solidFill>
                <a:latin typeface="Aptos"/>
              </a:rPr>
              <a:t>Predict whether a patient is likely to have PCOS from routine measurements.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0791" y="1627632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15383" y="177393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1" y="1746504"/>
            <a:ext cx="24231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D42"/>
                </a:solidFill>
                <a:latin typeface="Aptos"/>
              </a:rPr>
              <a:t>Compare multiple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215383" y="2399294"/>
                <a:ext cx="2880360" cy="7386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0" i="1" smtClean="0">
                        <a:solidFill>
                          <a:srgbClr val="5E6B78"/>
                        </a:solidFill>
                        <a:latin typeface="Cambria Math" panose="02040503050406030204" pitchFamily="18" charset="0"/>
                      </a:rPr>
                      <m:t>
                        <a:fld id="{825F15A7-03F4-43D7-82C5-3E23DA2F108C}" type="mathplaceholder">
                          <a:rPr lang="en-US" sz="1400" b="0" i="1" smtClean="0">
                            <a:solidFill>
                              <a:srgbClr val="5E6B78"/>
                            </a:solidFill>
                            <a:latin typeface="Cambria Math" panose="02040503050406030204" pitchFamily="18" charset="0"/>
                          </a:rPr>
                          <a:t>Type equation here.</a:t>
                        </a:fld>
                      </m:t>
                    </m:r>
                  </m:oMath>
                </a14:m>
                <a:r>
                  <a:rPr sz="1400" b="0" dirty="0">
                    <a:solidFill>
                      <a:srgbClr val="5E6B78"/>
                    </a:solidFill>
                    <a:latin typeface="Aptos"/>
                  </a:rPr>
                  <a:t>Evaluate nine algorithms under the same testing protocol.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383" y="2399294"/>
                <a:ext cx="2880360" cy="738664"/>
              </a:xfrm>
              <a:prstGeom prst="rect">
                <a:avLst/>
              </a:prstGeom>
              <a:blipFill>
                <a:blip r:embed="rId2"/>
                <a:stretch>
                  <a:fillRect l="-423"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7534656" y="1627632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177393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6" y="1819429"/>
            <a:ext cx="2423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2"/>
                </a:solidFill>
                <a:latin typeface="Aptos"/>
              </a:rPr>
              <a:t>Handle data 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286000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Reduce the effect of the 2:1 class imbalance using SMOTE inside the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03320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84962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3822191"/>
            <a:ext cx="2423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2"/>
                </a:solidFill>
                <a:latin typeface="Aptos"/>
              </a:rPr>
              <a:t>Select useful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568" y="4458116"/>
            <a:ext cx="28803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B78"/>
                </a:solidFill>
                <a:latin typeface="Aptos"/>
              </a:rPr>
              <a:t>Keep informative measurements while reducing irrelevant noise.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3703320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15383" y="384962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3822191"/>
            <a:ext cx="2423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2"/>
                </a:solidFill>
                <a:latin typeface="Aptos"/>
              </a:rPr>
              <a:t>Evaluate reliably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3" y="4361688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Use a held-out test set and repeated cross-validation to reduce optimistic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3703320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9248" y="384962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3849624"/>
            <a:ext cx="2423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2"/>
                </a:solidFill>
                <a:latin typeface="Aptos"/>
              </a:rPr>
              <a:t>Understand predictions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361688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Use SHAP and result analysis to identify the signals driving model predictions.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1291" y="1492763"/>
            <a:ext cx="2011680" cy="1315488"/>
          </a:xfrm>
          <a:prstGeom prst="roundRect">
            <a:avLst/>
          </a:prstGeom>
          <a:solidFill>
            <a:srgbClr val="E0F0E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 dataset contains 541 women, with 41 clinical, hormonal, physical, and related measurements used for PCOS prediction.</a:t>
            </a:r>
            <a:endParaRPr lang="en-US" sz="12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606039" y="1492763"/>
            <a:ext cx="1973576" cy="12660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 removed invalid or impossible values from the dataset to ensure data quality.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935" y="1512195"/>
            <a:ext cx="2011680" cy="12660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We filled the missing values using appropriate imputation techniques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240799" y="1453276"/>
            <a:ext cx="2011680" cy="1211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We brought all measurements to a similar scale so that no feature gets too much importance just because of its larger values.</a:t>
            </a:r>
            <a:endParaRPr sz="105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55372" y="1448389"/>
            <a:ext cx="2011680" cy="1220934"/>
          </a:xfrm>
          <a:prstGeom prst="roundRect">
            <a:avLst/>
          </a:prstGeom>
          <a:solidFill>
            <a:srgbClr val="E0F0ED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 kept the features that are most useful for making accurate PCOS predictions.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9827" y="3649496"/>
            <a:ext cx="2423160" cy="1458047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 used SHAP to identify the most important features and analyzed how well our models performed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72840" y="3668539"/>
            <a:ext cx="2423160" cy="13927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 used cross-validation during training, while 20% of the data was kept unseen for the final test.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21551" y="3634331"/>
            <a:ext cx="2423160" cy="1392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 used nine different machine learning models and compared their performance</a:t>
            </a:r>
            <a:r>
              <a:rPr lang="en-US" sz="1200" dirty="0"/>
              <a:t>.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03268" y="3631370"/>
            <a:ext cx="2423160" cy="1392792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We applied SMOTE only to the training data to balance the PCOS and non-PCOS classes.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49729" y="5877310"/>
            <a:ext cx="10332720" cy="713232"/>
          </a:xfrm>
          <a:prstGeom prst="roundRect">
            <a:avLst/>
          </a:prstGeom>
          <a:solidFill>
            <a:srgbClr val="1C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1755857" y="6078478"/>
            <a:ext cx="87204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Collect → Clean → Impute → Scale → Select → Balance → Predict → Evaluate → Explain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CE1E58-4BC3-7F1C-B393-AACEB9406C6B}"/>
              </a:ext>
            </a:extLst>
          </p:cNvPr>
          <p:cNvSpPr txBox="1"/>
          <p:nvPr/>
        </p:nvSpPr>
        <p:spPr>
          <a:xfrm>
            <a:off x="-2304184" y="1115180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C2D42"/>
                </a:solidFill>
                <a:latin typeface="Aptos"/>
              </a:rPr>
              <a:t>Dataset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51B763-6AF2-A5EA-7952-40C880BF8940}"/>
              </a:ext>
            </a:extLst>
          </p:cNvPr>
          <p:cNvSpPr txBox="1"/>
          <p:nvPr/>
        </p:nvSpPr>
        <p:spPr>
          <a:xfrm>
            <a:off x="-636443" y="1134612"/>
            <a:ext cx="7247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C2D42"/>
                </a:solidFill>
                <a:latin typeface="Aptos"/>
              </a:rPr>
              <a:t>Clean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FE2BFF-B4AA-9382-12B3-42445CAF8658}"/>
              </a:ext>
            </a:extLst>
          </p:cNvPr>
          <p:cNvSpPr txBox="1"/>
          <p:nvPr/>
        </p:nvSpPr>
        <p:spPr>
          <a:xfrm>
            <a:off x="1730501" y="1126095"/>
            <a:ext cx="7247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C2D42"/>
                </a:solidFill>
                <a:latin typeface="Aptos"/>
              </a:rPr>
              <a:t>Impute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419C5C-221D-764B-0C8C-63AACC0F332C}"/>
              </a:ext>
            </a:extLst>
          </p:cNvPr>
          <p:cNvSpPr txBox="1"/>
          <p:nvPr/>
        </p:nvSpPr>
        <p:spPr>
          <a:xfrm>
            <a:off x="4034791" y="1094561"/>
            <a:ext cx="7247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C2D42"/>
                </a:solidFill>
                <a:latin typeface="Aptos"/>
              </a:rPr>
              <a:t>Scale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F1E66D-0A62-8356-D1B2-2146FC9AA9FD}"/>
              </a:ext>
            </a:extLst>
          </p:cNvPr>
          <p:cNvSpPr txBox="1"/>
          <p:nvPr/>
        </p:nvSpPr>
        <p:spPr>
          <a:xfrm>
            <a:off x="6463247" y="1085872"/>
            <a:ext cx="7247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C2D42"/>
                </a:solidFill>
                <a:latin typeface="Aptos"/>
              </a:rPr>
              <a:t>Select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88CC47-70B9-FD6A-4C53-9C82BC4A85E3}"/>
              </a:ext>
            </a:extLst>
          </p:cNvPr>
          <p:cNvSpPr txBox="1"/>
          <p:nvPr/>
        </p:nvSpPr>
        <p:spPr>
          <a:xfrm>
            <a:off x="5649677" y="3225836"/>
            <a:ext cx="801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C2D42"/>
                </a:solidFill>
                <a:latin typeface="Aptos"/>
              </a:rPr>
              <a:t>Balance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CB19E7-E560-F903-10BF-C59819F63174}"/>
              </a:ext>
            </a:extLst>
          </p:cNvPr>
          <p:cNvSpPr txBox="1"/>
          <p:nvPr/>
        </p:nvSpPr>
        <p:spPr>
          <a:xfrm>
            <a:off x="6289823" y="3229408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C2D42"/>
                </a:solidFill>
                <a:latin typeface="Aptos"/>
              </a:rPr>
              <a:t>Predict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113FFB3-CD73-4ECD-B712-BF49FEAC103E}"/>
              </a:ext>
            </a:extLst>
          </p:cNvPr>
          <p:cNvSpPr txBox="1"/>
          <p:nvPr/>
        </p:nvSpPr>
        <p:spPr>
          <a:xfrm>
            <a:off x="3568476" y="3207136"/>
            <a:ext cx="128545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C2D42"/>
                </a:solidFill>
                <a:latin typeface="Aptos"/>
              </a:rPr>
              <a:t>Evaluate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9E9380-9565-6F24-F50A-D823A5293BE3}"/>
              </a:ext>
            </a:extLst>
          </p:cNvPr>
          <p:cNvSpPr txBox="1"/>
          <p:nvPr/>
        </p:nvSpPr>
        <p:spPr>
          <a:xfrm>
            <a:off x="915986" y="3208504"/>
            <a:ext cx="95097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C2D42"/>
                </a:solidFill>
                <a:latin typeface="Aptos"/>
              </a:rPr>
              <a:t>Explain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76FBEF-8956-6863-68E9-64B29F9A9297}"/>
              </a:ext>
            </a:extLst>
          </p:cNvPr>
          <p:cNvSpPr txBox="1"/>
          <p:nvPr/>
        </p:nvSpPr>
        <p:spPr>
          <a:xfrm>
            <a:off x="243059" y="101826"/>
            <a:ext cx="6096000" cy="733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16"/>
              </a:lnSpc>
            </a:pPr>
            <a:r>
              <a:rPr lang="en-US" sz="3600" b="1" spc="-52" dirty="0">
                <a:solidFill>
                  <a:srgbClr val="102D54"/>
                </a:solidFill>
                <a:latin typeface="Inter Bold"/>
                <a:ea typeface="Inter Bold"/>
                <a:cs typeface="Inter Bold"/>
                <a:sym typeface="Inter Bold"/>
              </a:rPr>
              <a:t>Proposed Methodology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18655E2-CA85-E89B-CAB3-886C9AE82ACB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2302971" y="2125776"/>
            <a:ext cx="303068" cy="24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D936BC6-AA1E-2F26-BD70-FD9EF82A69EF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4579615" y="2125776"/>
            <a:ext cx="274320" cy="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5A99715-B9E0-E50D-DBE0-0F63A073A1BF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6865615" y="2058856"/>
            <a:ext cx="375184" cy="86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75DE2C9-168B-A7C0-7C89-35241D72CEE2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9252479" y="2058856"/>
            <a:ext cx="402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5E8C774-F551-C7AC-AF02-D00300C6E7F5}"/>
              </a:ext>
            </a:extLst>
          </p:cNvPr>
          <p:cNvCxnSpPr>
            <a:stCxn id="17" idx="2"/>
            <a:endCxn id="33" idx="0"/>
          </p:cNvCxnSpPr>
          <p:nvPr/>
        </p:nvCxnSpPr>
        <p:spPr>
          <a:xfrm flipH="1">
            <a:off x="10314848" y="2669323"/>
            <a:ext cx="346364" cy="96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88B9D60-DB57-4AA8-D8AD-363655ED0D6C}"/>
              </a:ext>
            </a:extLst>
          </p:cNvPr>
          <p:cNvCxnSpPr>
            <a:stCxn id="33" idx="1"/>
            <a:endCxn id="30" idx="3"/>
          </p:cNvCxnSpPr>
          <p:nvPr/>
        </p:nvCxnSpPr>
        <p:spPr>
          <a:xfrm flipH="1">
            <a:off x="8744711" y="4327766"/>
            <a:ext cx="358557" cy="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05C87C9-549E-9EDB-437A-540513290822}"/>
              </a:ext>
            </a:extLst>
          </p:cNvPr>
          <p:cNvCxnSpPr>
            <a:stCxn id="30" idx="1"/>
            <a:endCxn id="27" idx="3"/>
          </p:cNvCxnSpPr>
          <p:nvPr/>
        </p:nvCxnSpPr>
        <p:spPr>
          <a:xfrm flipH="1">
            <a:off x="6096000" y="4330727"/>
            <a:ext cx="225551" cy="3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80D5FCF-D1D6-47FC-9DF4-9B05048858B7}"/>
              </a:ext>
            </a:extLst>
          </p:cNvPr>
          <p:cNvCxnSpPr>
            <a:stCxn id="27" idx="1"/>
            <a:endCxn id="24" idx="3"/>
          </p:cNvCxnSpPr>
          <p:nvPr/>
        </p:nvCxnSpPr>
        <p:spPr>
          <a:xfrm flipH="1">
            <a:off x="3332987" y="4364935"/>
            <a:ext cx="339853" cy="13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448315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C2D42"/>
                </a:solidFill>
                <a:latin typeface="Aptos Display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217578"/>
                </a:solidFill>
                <a:latin typeface="Aptos"/>
              </a:rPr>
              <a:t>DATASET</a:t>
            </a:r>
            <a:endParaRPr sz="1100" b="1" dirty="0">
              <a:solidFill>
                <a:srgbClr val="2175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15468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1847088"/>
            <a:ext cx="1298448" cy="1024128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02536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541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2848" y="1847088"/>
            <a:ext cx="1298448" cy="1024128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40" y="2002536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42032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measurements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3063240"/>
            <a:ext cx="1298448" cy="1024128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18688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58184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PCOS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12848" y="3063240"/>
            <a:ext cx="1298448" cy="1024128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3218688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364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758184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non-PCOS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536253"/>
            <a:ext cx="272491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5E6B78"/>
                </a:solidFill>
                <a:latin typeface="Aptos"/>
              </a:rPr>
              <a:t>Public dataset from 10 hospitals in Kerala, India.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239512"/>
            <a:ext cx="272491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Aptos"/>
              </a:rPr>
              <a:t>Clinical, hormonal, physical, symptom and ultrasound-related measurements.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1243584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7578"/>
                </a:solidFill>
                <a:latin typeface="Aptos"/>
              </a:rPr>
              <a:t>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1648" y="1572768"/>
            <a:ext cx="324612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9392" y="1856231"/>
            <a:ext cx="9601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7578"/>
                </a:solidFill>
                <a:latin typeface="Aptos"/>
              </a:rPr>
              <a:t>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1856231"/>
            <a:ext cx="18105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D42"/>
                </a:solidFill>
                <a:latin typeface="Aptos"/>
              </a:rPr>
              <a:t>80% training  /  20% held-out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642615"/>
            <a:ext cx="9601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7578"/>
                </a:solidFill>
                <a:latin typeface="Aptos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642615"/>
            <a:ext cx="1810512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C2D42"/>
                </a:solidFill>
                <a:latin typeface="Aptos"/>
              </a:rPr>
              <a:t>Repeated cross-validation on training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521332"/>
            <a:ext cx="9601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7578"/>
                </a:solidFill>
                <a:latin typeface="Aptos"/>
              </a:rPr>
              <a:t>Balancing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504229"/>
            <a:ext cx="18105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D42"/>
                </a:solidFill>
                <a:latin typeface="Aptos"/>
              </a:rPr>
              <a:t>SMOTE applied only within training folds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215383"/>
            <a:ext cx="9601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7578"/>
                </a:solidFill>
                <a:latin typeface="Aptos"/>
              </a:rPr>
              <a:t>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215383"/>
            <a:ext cx="18105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C2D42"/>
                </a:solidFill>
                <a:latin typeface="Aptos"/>
              </a:rPr>
              <a:t>Correlation, Chi-Square and RFE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5001768"/>
            <a:ext cx="9601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7578"/>
                </a:solidFill>
                <a:latin typeface="Aptos"/>
              </a:rPr>
              <a:t>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5001768"/>
            <a:ext cx="1810512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D42"/>
                </a:solidFill>
                <a:latin typeface="Aptos"/>
              </a:rPr>
              <a:t>Accuracy · Sensitivity · Specificity · AUC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1243584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7578"/>
                </a:solidFill>
                <a:latin typeface="Aptos"/>
              </a:rPr>
              <a:t>MODELS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572768"/>
            <a:ext cx="3968496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909560" y="1856231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9560" y="1874519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C2D42"/>
                </a:solidFill>
                <a:latin typeface="Aptos"/>
              </a:rPr>
              <a:t>Logistic Regression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2523744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2448360"/>
            <a:ext cx="162763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C2D42"/>
                </a:solidFill>
                <a:latin typeface="Aptos"/>
              </a:rPr>
              <a:t>Elastic-Net Logistic Regression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9560" y="3191256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3192816"/>
            <a:ext cx="16276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2"/>
                </a:solidFill>
                <a:latin typeface="Aptos"/>
              </a:rPr>
              <a:t>SVM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9560" y="3858768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3860327"/>
            <a:ext cx="16276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2"/>
                </a:solidFill>
                <a:latin typeface="Aptos"/>
              </a:rPr>
              <a:t>KNN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09560" y="4526279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4450895"/>
            <a:ext cx="162763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C2D42"/>
                </a:solidFill>
                <a:latin typeface="Aptos"/>
              </a:rPr>
              <a:t>Gaussian Naive Bayes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20072" y="1856231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20072" y="1857791"/>
            <a:ext cx="16276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2"/>
                </a:solidFill>
                <a:latin typeface="Aptos"/>
              </a:rPr>
              <a:t>Random Forest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20072" y="2523744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20072" y="2525304"/>
            <a:ext cx="16276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2"/>
                </a:solidFill>
                <a:latin typeface="Aptos"/>
              </a:rPr>
              <a:t>XGBoost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20072" y="3191256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20072" y="3192816"/>
            <a:ext cx="16276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2"/>
                </a:solidFill>
                <a:latin typeface="Aptos"/>
              </a:rPr>
              <a:t>CatBoost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20072" y="3858768"/>
            <a:ext cx="1627632" cy="329184"/>
          </a:xfrm>
          <a:prstGeom prst="roundRect">
            <a:avLst/>
          </a:prstGeom>
          <a:solidFill>
            <a:srgbClr val="E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20072" y="3875715"/>
            <a:ext cx="16276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Stacking Ensemble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5422392"/>
            <a:ext cx="3429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5E6B78"/>
                </a:solidFill>
                <a:latin typeface="Aptos"/>
              </a:rPr>
              <a:t>Primary comparison: ROC-AUC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4395" y="140124"/>
            <a:ext cx="5066515" cy="8511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6246"/>
              </a:lnSpc>
            </a:pPr>
            <a:r>
              <a:rPr lang="en-US" sz="4800" b="1" spc="-186">
                <a:solidFill>
                  <a:srgbClr val="0F305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2286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17578"/>
                </a:solidFill>
                <a:latin typeface="Aptos"/>
              </a:rPr>
              <a:t>HEADLINE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25146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92.7%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21854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64208"/>
            <a:ext cx="2514600" cy="141732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83.3%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359152"/>
            <a:ext cx="21854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Sensitivity /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1664208"/>
            <a:ext cx="2514600" cy="1417320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9904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97.3%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2359152"/>
            <a:ext cx="21854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Specificity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4504" y="1664208"/>
            <a:ext cx="25146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69096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0.945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359152"/>
            <a:ext cx="21854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ROC-AUC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56432"/>
            <a:ext cx="6583680" cy="1874519"/>
          </a:xfrm>
          <a:prstGeom prst="roundRect">
            <a:avLst/>
          </a:prstGeom>
          <a:solidFill>
            <a:srgbClr val="1C2D42"/>
          </a:solidFill>
          <a:ln w="10160"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703320"/>
            <a:ext cx="1645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ED5D2"/>
                </a:solidFill>
                <a:latin typeface="Aptos"/>
              </a:rPr>
              <a:t>WHAT THIS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096512"/>
            <a:ext cx="5989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The model correctly classifies most held-out cases and is especially strong at ruling out non-PCOS cases.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3456432"/>
            <a:ext cx="3739896" cy="1874519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E0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3685032"/>
            <a:ext cx="3246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17578"/>
                </a:solidFill>
                <a:latin typeface="Aptos"/>
              </a:rP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096512"/>
            <a:ext cx="3246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A defensible ~93% result is more informative than an inflated 98–99% score produced by flawed testing.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5733288"/>
            <a:ext cx="10515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E6B78"/>
                </a:solidFill>
                <a:latin typeface="Aptos"/>
              </a:rPr>
              <a:t>This is a coursework screening model — not a standalone medical diagnostic device.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2D42"/>
                </a:solidFill>
                <a:latin typeface="Aptos Display"/>
              </a:rPr>
              <a:t>Results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1996"/>
            <a:ext cx="71559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5E6B78"/>
                </a:solidFill>
                <a:latin typeface="Aptos"/>
              </a:rPr>
              <a:t>Nine algorithms were compared under the same evaluation framework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807829"/>
              </p:ext>
            </p:extLst>
          </p:nvPr>
        </p:nvGraphicFramePr>
        <p:xfrm>
          <a:off x="658368" y="1481328"/>
          <a:ext cx="69494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572768"/>
            <a:ext cx="342900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2"/>
                </a:solidFill>
                <a:latin typeface="Aptos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423160"/>
            <a:ext cx="2743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E6B78"/>
                </a:solidFill>
                <a:latin typeface="Aptos"/>
              </a:rPr>
              <a:t>The models cluster tightly near 0.95 AUC. The spread is small, while KNN is clearly weaker.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913632"/>
            <a:ext cx="1874519" cy="329184"/>
          </a:xfrm>
          <a:prstGeom prst="roundRect">
            <a:avLst/>
          </a:prstGeom>
          <a:solidFill>
            <a:srgbClr val="E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3931920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Top: Stacking 0.956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4416552"/>
            <a:ext cx="1874519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4434840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RF: 0.954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919472"/>
            <a:ext cx="1874519" cy="329184"/>
          </a:xfrm>
          <a:prstGeom prst="roundRect">
            <a:avLst/>
          </a:prstGeom>
          <a:solidFill>
            <a:srgbClr val="F0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4937759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KNN: 0.927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4498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No single model dominates every split.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669677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2D42"/>
                </a:solidFill>
                <a:latin typeface="Aptos Display"/>
              </a:rPr>
              <a:t>Result Analysis </a:t>
            </a:r>
            <a:r>
              <a:rPr lang="en-US" sz="2700" b="1" dirty="0">
                <a:solidFill>
                  <a:srgbClr val="1C2D42"/>
                </a:solidFill>
                <a:latin typeface="Aptos Display"/>
              </a:rPr>
              <a:t>- </a:t>
            </a:r>
            <a:r>
              <a:rPr sz="2700" b="1" dirty="0">
                <a:solidFill>
                  <a:srgbClr val="1C2D42"/>
                </a:solidFill>
                <a:latin typeface="Aptos Display"/>
              </a:rPr>
              <a:t>Evaluation Method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2286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17578"/>
                </a:solidFill>
                <a:latin typeface="Aptos"/>
              </a:rPr>
              <a:t>LEAKAGE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286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17578"/>
                </a:solidFill>
                <a:latin typeface="Aptos"/>
              </a:rPr>
              <a:t>CORRECT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Split patients first → then apply SMOTE using training data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18688"/>
            <a:ext cx="1920240" cy="114300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6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0.893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913632"/>
            <a:ext cx="15910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337560"/>
            <a:ext cx="21031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5E6B78"/>
                </a:solidFill>
                <a:latin typeface="Aptos"/>
              </a:rPr>
              <a:t>Reliable estimate
because the test set stays unseen.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64208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920240"/>
            <a:ext cx="2286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17578"/>
                </a:solidFill>
                <a:latin typeface="Aptos"/>
              </a:rPr>
              <a:t>LEAKY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359152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Create synthetic samples first → then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218688"/>
            <a:ext cx="1920240" cy="1143000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374136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0.924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913632"/>
            <a:ext cx="15910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B78"/>
                </a:solidFill>
                <a:latin typeface="Aptos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337560"/>
            <a:ext cx="2103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6B78"/>
                </a:solidFill>
                <a:latin typeface="Aptos"/>
              </a:rPr>
              <a:t>Artificial inflation
from overlap between training and test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" y="5440680"/>
            <a:ext cx="10012680" cy="658368"/>
          </a:xfrm>
          <a:prstGeom prst="roundRect">
            <a:avLst/>
          </a:prstGeom>
          <a:solidFill>
            <a:srgbClr val="1C2D42"/>
          </a:solidFill>
          <a:ln w="10160"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5596128"/>
            <a:ext cx="9692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+3.2 percentage points accuracy inflation  •  +9.2% F1 inflation  •  98–99% headlines can be testing-method dependent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6049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2D42"/>
                </a:solidFill>
                <a:latin typeface="Aptos Display"/>
              </a:rPr>
              <a:t>Result Analysis — Practical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48156"/>
            <a:ext cx="2286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17578"/>
                </a:solidFill>
                <a:latin typeface="Aptos"/>
              </a:rPr>
              <a:t>TESTING TIERS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30352" y="1572768"/>
          <a:ext cx="5349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3232" y="5394621"/>
            <a:ext cx="4983480" cy="68580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E0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93618" y="5623560"/>
            <a:ext cx="4663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Questionnaire-only AUC = 0.887 — about 93% of the full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225296"/>
            <a:ext cx="2286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17578"/>
                </a:solidFill>
                <a:latin typeface="Aptos"/>
              </a:rPr>
              <a:t>MODEL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572768"/>
            <a:ext cx="52120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526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D42"/>
                </a:solidFill>
                <a:latin typeface="Aptos"/>
              </a:rPr>
              <a:t>Top SHAP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7668" y="2271451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Follicle count (R)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2322575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73568" y="2322575"/>
            <a:ext cx="2697480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569463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Follicle count (L)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2578607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73568" y="2578607"/>
            <a:ext cx="2427732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25496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Weight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2834639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8" y="2834639"/>
            <a:ext cx="1807311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081528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Skin darkening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090672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73568" y="3090672"/>
            <a:ext cx="1402689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Hair 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3568" y="3346703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73568" y="3346703"/>
            <a:ext cx="1240840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44768" y="3858768"/>
            <a:ext cx="5212080" cy="1975104"/>
          </a:xfrm>
          <a:prstGeom prst="roundRect">
            <a:avLst/>
          </a:prstGeom>
          <a:solidFill>
            <a:srgbClr val="1C2D42"/>
          </a:solidFill>
          <a:ln w="10160"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4526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ML vs. the 2003 follicle-count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5371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8ED5D2"/>
                </a:solidFill>
                <a:latin typeface="Aptos"/>
              </a:rPr>
              <a:t>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553712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22 / 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5371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8D3DE"/>
                </a:solidFill>
                <a:latin typeface="Aptos"/>
              </a:rPr>
              <a:t>PCOS cases 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1091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8ED5D2"/>
                </a:solidFill>
                <a:latin typeface="Aptos"/>
              </a:rPr>
              <a:t>ML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010912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30 / 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01091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8D3DE"/>
                </a:solidFill>
                <a:latin typeface="Aptos"/>
              </a:rPr>
              <a:t>PCOS cases found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68112"/>
            <a:ext cx="4526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ptos"/>
              </a:rPr>
              <a:t>8 additional cases detected, with 1 additional false alarm.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5468"/>
            <a:ext cx="534825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C2D42"/>
                </a:solidFill>
                <a:latin typeface="Aptos Display"/>
              </a:rPr>
              <a:t>Limitations</a:t>
            </a:r>
            <a:r>
              <a:rPr lang="en-US" sz="4000" b="1" dirty="0">
                <a:solidFill>
                  <a:srgbClr val="1C2D42"/>
                </a:solidFill>
                <a:latin typeface="Aptos Display"/>
              </a:rPr>
              <a:t> </a:t>
            </a:r>
            <a:r>
              <a:rPr lang="en-US" sz="4000" b="1" spc="-118" dirty="0">
                <a:solidFill>
                  <a:srgbClr val="0D2F52"/>
                </a:solidFill>
                <a:latin typeface="Inter Bold"/>
                <a:ea typeface="Inter Bold"/>
                <a:cs typeface="Inter Bold"/>
                <a:sym typeface="Inter Bold"/>
              </a:rPr>
              <a:t>&amp; Conclusion</a:t>
            </a:r>
            <a:endParaRPr sz="4000" b="1" dirty="0">
              <a:solidFill>
                <a:srgbClr val="1C2D42"/>
              </a:solidFill>
              <a:latin typeface="Aptos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60691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D42"/>
                </a:solidFill>
                <a:latin typeface="Aptos"/>
              </a:rPr>
              <a:t>Small test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49424"/>
            <a:ext cx="27889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B78"/>
                </a:solidFill>
                <a:latin typeface="Aptos"/>
              </a:rPr>
              <a:t>Only 36 PCOS-positive cases were in the held-out test set, so estimates remain imprecise</a:t>
            </a:r>
            <a:r>
              <a:rPr sz="980" b="0" dirty="0">
                <a:solidFill>
                  <a:srgbClr val="5E6B78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627632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24528" y="1865376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rial"/>
              </a:rPr>
              <a:t>Single cohort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184075"/>
            <a:ext cx="27889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rial"/>
              </a:rPr>
              <a:t>Dataset is restricted to hospital patients from Kerala, India; multi-center evaluation across diverse populations remains future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6368" y="1627632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792224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D42"/>
                </a:solidFill>
                <a:latin typeface="Aptos"/>
              </a:rPr>
              <a:t>Potential label circularity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249424"/>
            <a:ext cx="27889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B78"/>
                </a:solidFill>
                <a:latin typeface="Aptos"/>
              </a:rPr>
              <a:t>Follicle count is a top predictor and also part of the diagnostic criteria used to record PCOS.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986783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D42"/>
                </a:solidFill>
                <a:latin typeface="Aptos"/>
              </a:rPr>
              <a:t>No ultrasound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43983"/>
            <a:ext cx="27889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B78"/>
                </a:solidFill>
                <a:latin typeface="Aptos"/>
              </a:rPr>
              <a:t>The dataset contains follicle counts from scans, but not the original ultrasound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3822191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61104" y="4013547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C2D42"/>
                </a:solidFill>
                <a:latin typeface="Aptos"/>
              </a:rPr>
              <a:t>Possible</a:t>
            </a:r>
            <a:r>
              <a:rPr sz="1600" b="1" dirty="0">
                <a:solidFill>
                  <a:srgbClr val="1C2D42"/>
                </a:solidFill>
                <a:latin typeface="Aptos"/>
              </a:rPr>
              <a:t> </a:t>
            </a:r>
            <a:r>
              <a:rPr sz="1400" b="1" dirty="0">
                <a:solidFill>
                  <a:srgbClr val="1C2D42"/>
                </a:solidFill>
                <a:latin typeface="Aptos"/>
              </a:rPr>
              <a:t>unblinded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4417217"/>
            <a:ext cx="27889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B78"/>
                </a:solidFill>
                <a:latin typeface="Aptos"/>
              </a:rPr>
              <a:t>Some symptoms may have been recorded when PCOS was already suspected.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6368" y="3822191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9248" y="3986783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D42"/>
                </a:solidFill>
                <a:latin typeface="Aptos"/>
              </a:rPr>
              <a:t>Not a medical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4443983"/>
            <a:ext cx="27889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B78"/>
                </a:solidFill>
                <a:latin typeface="Aptos"/>
              </a:rPr>
              <a:t>This is a coursework screening model. Clinical diagnosis still requires a qualified clinician.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78</TotalTime>
  <Words>815</Words>
  <Application>Microsoft Office PowerPoint</Application>
  <PresentationFormat>Widescreen</PresentationFormat>
  <Paragraphs>154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Inter Bold</vt:lpstr>
      <vt:lpstr>Inter Semi-Bold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4</cp:revision>
  <dcterms:created xsi:type="dcterms:W3CDTF">2013-01-27T09:14:16Z</dcterms:created>
  <dcterms:modified xsi:type="dcterms:W3CDTF">2026-10-05T21:40:22Z</dcterms:modified>
  <cp:category/>
</cp:coreProperties>
</file>