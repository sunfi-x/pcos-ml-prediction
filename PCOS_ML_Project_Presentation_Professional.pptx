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Predicting Polycystic Ovary Syndrome (PCOS)</a:t>
            </a:r>
          </a:p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with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46888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2E8F0"/>
                </a:solidFill>
                <a:latin typeface="Arial"/>
              </a:defRPr>
            </a:pPr>
            <a:r>
              <a:t>A defensible, leak-free screening approach built from clinical and routine measurements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291840"/>
            <a:ext cx="9997135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474720"/>
            <a:ext cx="9601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GROUP 5 PRESENTATION</a:t>
            </a:r>
          </a:p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Fatema Ferdous (0152410052)  ·  Wafa Haque (0152420023)  ·  Khondoker Sazzad Sunfi (0152310002)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5212080"/>
            <a:ext cx="237744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2578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EA5E9"/>
                </a:solidFill>
              </a:defRPr>
            </a:pPr>
            <a:r>
              <a:t>DATASET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541 Patients (Kerala)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5212080"/>
            <a:ext cx="237744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52578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EA5E9"/>
                </a:solidFill>
              </a:defRPr>
            </a:pPr>
            <a:r>
              <a:t>VALIDATION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Repeated 10-Fold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212080"/>
            <a:ext cx="237744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2578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EA5E9"/>
                </a:solidFill>
              </a:defRPr>
            </a:pPr>
            <a:r>
              <a:t>ACCURACY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92.7% Test 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39" y="5212080"/>
            <a:ext cx="237744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39" y="5257800"/>
            <a:ext cx="2377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EA5E9"/>
                </a:solidFill>
              </a:defRPr>
            </a:pPr>
            <a:r>
              <a:t>ROC-AUC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0.945 Test AUC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1.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Project Goals &amp; Key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645920"/>
            <a:ext cx="5486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Build ML System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Predict PCOS status reliably from routine clinical, physical, and hormonal patient measurements.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37160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26864" y="1645920"/>
            <a:ext cx="5486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Algorithm Comparison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Evaluate 9 diverse ML algorithms under identical, controlled cross-validation testing.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37160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47888" y="1645920"/>
            <a:ext cx="5486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0574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Class Imbalance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Handle 2:1 class imbalance using SMOTE strictly inside training folds to eliminate bias.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114800"/>
            <a:ext cx="5486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14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262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Feature Selection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Compare Correlation, Chi-Square, and RFE selectors to identify minimal predictor sets.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52544" y="384048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26864" y="4114800"/>
            <a:ext cx="5486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4114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6864" y="45262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Rigorous Evaluation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Use repeated stratified 10-fold CV and an untouched held-out 20% test set for true estimates.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384048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47888" y="4114800"/>
            <a:ext cx="548640" cy="3200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4114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45262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Explainable AI (SHAP)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Apply SHAP analysis to uncover feature priorities and explain model predictions transparently.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2.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Pipeline Architecture &amp; Anti-Leakage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6916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98448" y="1737360"/>
            <a:ext cx="548640" cy="5486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1737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417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Data Cleaning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Coerce types &amp; enforce physiological range limits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42032" y="1463040"/>
            <a:ext cx="16916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108960" y="1737360"/>
            <a:ext cx="548640" cy="5486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737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2" y="2468880"/>
            <a:ext cx="1417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Range Imputation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Median/mode imputation fitted inside training folds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463040"/>
            <a:ext cx="16916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9472" y="1737360"/>
            <a:ext cx="548640" cy="5486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1737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468880"/>
            <a:ext cx="1417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Stratified Split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80% Train / 20% Held-out Test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16916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29983" y="1737360"/>
            <a:ext cx="548640" cy="5486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9983" y="1737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5" y="2468880"/>
            <a:ext cx="1417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Feature Selection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Correlation-based selection (keeps top 20 features)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1463040"/>
            <a:ext cx="16916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40496" y="1737360"/>
            <a:ext cx="548640" cy="5486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1737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2468880"/>
            <a:ext cx="1417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In-Fold SMOTE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Oversampling applied only within training folds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1463040"/>
            <a:ext cx="16916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51008" y="1737360"/>
            <a:ext cx="548640" cy="548640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51008" y="1737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468880"/>
            <a:ext cx="1417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Model Evaluation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9 ML Models + Stacking Ensemble &amp; SHAP XAI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029200"/>
            <a:ext cx="10728655" cy="11887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12064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CRITICAL DESIGN CHOICE: STRICT ANTI-LEAKAGE PROTOCOL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Every transformation (imputation, scaling, feature selection, and SMOTE oversampling) is fitted strictly inside each training fold. Nothing downstream of the split ever sees validation or held-out test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3. 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Dataset, Validation Strategy &amp; Model Zoo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DATASET DETAILS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Patient Sample: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541 women across 10 hospitals in Kerala, India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Feature Space: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41 clinical, physical, hormonal &amp; ultrasound predictors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Class Balance: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364 Non-PCOS vs 177 PCOS (ratio ~2.06:1)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Key Features: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Follicle counts, BMI, cycle length, skin darkening, hair growth, blood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VALIDATION STRATEGY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Data Split: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80% Train (432 rows) / 20% Held-out Test (109 rows)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Cross-Validation: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Repeated Stratified 10-Fold CV (3 repeats = 30 folds)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In-Fold SMOTE: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Synthetic oversampling on training folds only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Feature Selection: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Correlation (20), Chi-Square (15), RFE (15)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Evaluation Metrics: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Accuracy, Recall, Specificity, ROC-AUC, Brier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EVALUATED ALGORITHMS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Logistic Regression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Elastic-Net Logistic Reg.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Support Vector Machine (SVM)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K-Nearest Neighbors (KNN)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Gaussian Naive Bayes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Random Forest Classifier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XGBoost Classifier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CatBoost Classifier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✓ Stacking Ensemble (Meta-Learner)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Held-Out Test Set Performance (Headline Results)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ACCURACY</a:t>
            </a:r>
          </a:p>
          <a:p>
            <a:pPr>
              <a:defRPr sz="3800" b="1">
                <a:solidFill>
                  <a:srgbClr val="0284C7"/>
                </a:solidFill>
              </a:defRPr>
            </a:pPr>
            <a:r>
              <a:t>92.7%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Correct classifications on held-out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37160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7104" y="164592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SENSITIVITY / RECALL</a:t>
            </a:r>
          </a:p>
          <a:p>
            <a:pPr>
              <a:defRPr sz="3800" b="1">
                <a:solidFill>
                  <a:srgbClr val="10B981"/>
                </a:solidFill>
              </a:defRPr>
            </a:pPr>
            <a:r>
              <a:t>83.3%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30 of 36 PCOS cases correctly detected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6576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SPECIFICITY</a:t>
            </a:r>
          </a:p>
          <a:p>
            <a:pPr>
              <a:defRPr sz="3800" b="1">
                <a:solidFill>
                  <a:srgbClr val="0EA5E9"/>
                </a:solidFill>
              </a:defRPr>
            </a:pPr>
            <a:r>
              <a:t>97.3%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71 of 73 healthy controls correctly cleared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3383280"/>
            <a:ext cx="53035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36576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HELD-OUT ROC-AUC</a:t>
            </a:r>
          </a:p>
          <a:p>
            <a:pPr>
              <a:defRPr sz="3800" b="1">
                <a:solidFill>
                  <a:srgbClr val="0F172A"/>
                </a:solidFill>
              </a:defRPr>
            </a:pPr>
            <a:r>
              <a:t>0.945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95% Bootstrap CI: [0.887, 0.991]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10728655" cy="9144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KEY CLINICAL TAKEAWAY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 defensible, leak-free ~93% result provides a trustworthy screening benchmark. High specificity ensures minimal false alarms, while high recall catches 5 out of 6 PCOS cases.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4.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Algorithm Comparison &amp; Ranking Stability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9436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REPEATED 10-FOLD CV RESULTS</a:t>
            </a:r>
          </a:p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Model                  Accuracy   Recall     ROC-AUC</a:t>
            </a:r>
          </a:p>
          <a:p>
            <a:pPr>
              <a:defRPr sz="1000" b="1">
                <a:solidFill>
                  <a:srgbClr val="0284C7"/>
                </a:solidFill>
                <a:latin typeface="Courier New"/>
              </a:defRPr>
            </a:pPr>
            <a:r>
              <a:t>Stacking Ensemble      89.4%      83.7%      0.956 ± 0.028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Random Forest          89.1%      81.5%      0.954 ± 0.027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CatBoost               88.8%      83.0%      0.952 ± 0.031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Gaussian Naive Bayes   86.2%      84.6%      0.950 ± 0.025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XGBoost                88.8%      81.3%      0.949 ± 0.031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Elastic-Net LR         89.5%      88.4%      0.947 ± 0.034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Logistic Regression    89.1%      88.7%      0.947 ± 0.035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SVM (RBF)              88.2%      83.4%      0.946 ± 0.034</a:t>
            </a:r>
          </a:p>
          <a:p>
            <a:pPr>
              <a:defRPr sz="1000">
                <a:solidFill>
                  <a:srgbClr val="1E293B"/>
                </a:solidFill>
                <a:latin typeface="Courier New"/>
              </a:defRPr>
            </a:pPr>
            <a:r>
              <a:t>KNN                    86.5%      83.9%      0.927 ± 0.042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37160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KEY COMPARISON FINDINGS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Tight Performance Clustering: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8 of 9 models perform closely near ~0.95 ROC-AUC. Small gaps are within random variation.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Split Winner Instability: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Across 30 random splits, 8 different models won at least once. Declaring a single winner from 1 split is a coin flip.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Naive Bayes Competitiveness: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Gaussian Naive Bayes finished 4th and won 40% of random splits — confirming the underlying signal is simple and additive.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• KNN Underperformance: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KNN is the only algorithm measurably weaker (0.927 AUC) because SMOTE oversampling distorts distance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5.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Methodology Impact — Data Leakage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CORRECT PROTOCOL (OUR PIPELINE)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Split patients first → SMOTE &amp; selection inside CV</a:t>
            </a:r>
          </a:p>
          <a:p>
            <a:pPr>
              <a:defRPr sz="3600" b="1">
                <a:solidFill>
                  <a:srgbClr val="10B981"/>
                </a:solidFill>
              </a:defRPr>
            </a:pPr>
            <a:r>
              <a:t>89.3%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Accuracy (83.4% F1 Score)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✓ Reliable &amp; leak-free estimate. Test data remains completely unseen during all preprocessing and feature selection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LEAKY PROTOCOL (FLAWED METHOD)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Apply SMOTE &amp; Selection on full dataset → then split</a:t>
            </a:r>
          </a:p>
          <a:p>
            <a:pPr>
              <a:defRPr sz="3600" b="1">
                <a:solidFill>
                  <a:srgbClr val="EF4444"/>
                </a:solidFill>
              </a:defRPr>
            </a:pPr>
            <a:r>
              <a:t>92.4%</a:t>
            </a:r>
          </a:p>
          <a:p>
            <a:pPr>
              <a:defRPr sz="1200" b="1">
                <a:solidFill>
                  <a:srgbClr val="1E293B"/>
                </a:solidFill>
              </a:defRPr>
            </a:pPr>
            <a:r>
              <a:t>Accuracy (92.4% F1 Score)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⚠ Artificial inflation (+3.2% Accuracy, +9.0% F1). Synthetic test samples interpolated from training data leak labels to the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WHY THIS MATTERS FOR LITERATURE COMPARISON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Prior studies reporting 98–99% accuracy on this 541-row dataset achieve high numbers through testing methodology rather than superior modeling. Flawed preprocessing leaks test labels, manufacturing high scores.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5.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Cost Tiers, SHAP Feature Signals &amp; Rotterdam Rule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FEATURE COST TIERS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Questionnaire Only</a:t>
            </a:r>
          </a:p>
          <a:p>
            <a:pPr>
              <a:defRPr sz="2400" b="1">
                <a:solidFill>
                  <a:srgbClr val="10B981"/>
                </a:solidFill>
              </a:defRPr>
            </a:pPr>
            <a:r>
              <a:t>0.887 ROC-AUC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Questionnaire Tier: 19 features (form &amp; scale). Reaches 93% of full model performance for FREE.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Blood Panel Tier: 9 endocrine assays add only +0.011 AUC (virtually negligible for screening).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• Ultrasound Tier: Follicle counts add +0.062 AUC (only tier that pays for itself).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TOP SHAP SIGNALS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1. Follicle No. (Right)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Primary predictor across all models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2. Follicle No. (Left)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Strong positive correlation with PCOS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3. Skin Darkening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Top physical symptom indicator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4. Cycle Length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Irregular cycle duration signal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5. Hair Growth (Hirsutism)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Key androgenic symptom indicator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ML VS. ROTTERDAM RULE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2003 Rotterdam Rule</a:t>
            </a:r>
          </a:p>
          <a:p>
            <a:pPr>
              <a:defRPr sz="1800" b="1">
                <a:solidFill>
                  <a:srgbClr val="64748B"/>
                </a:solidFill>
              </a:defRPr>
            </a:pPr>
            <a:r>
              <a:t>22 / 36 Cases Found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ML Stacking Model</a:t>
            </a:r>
          </a:p>
          <a:p>
            <a:pPr>
              <a:defRPr sz="1800" b="1">
                <a:solidFill>
                  <a:srgbClr val="10B981"/>
                </a:solidFill>
              </a:defRPr>
            </a:pPr>
            <a:r>
              <a:t>30 / 36 Cases Found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✓ ML adds +8 additional PCOS cases detected over the clinical threshold rule at the cost of only 1 extra false alarm.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5.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Study Limitations &amp; Operational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⚠ Small Test Sample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Held-out test set contains 36 PCOS cases, making recall estimates span [70%, 94%].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137160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26864" y="16459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⚠ Single-Center Cohort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Data is from 10 hospitals in Kerala, India; multi-center evaluation remains future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137160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64592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⚠ Label Circularity Risk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Follicle count is both a top model predictor and a component of diagnostic criteria.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⚠ No Raw Ultrasound Scans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Dataset includes follicle counts from scans, but not raw imaging files for CNNs.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384048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6864" y="411480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⚠ Unblinded Assessment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Symptoms may have been recorded by clinicians who already suspected PCOS.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84048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11480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⚠ Screening Scope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Coursework screening decision-support model — not a diagnostic replacement for doctors.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200" b="1">
                <a:solidFill>
                  <a:srgbClr val="0EA5E9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926080"/>
            <a:ext cx="9448495" cy="2560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8869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SUMMARY OF CORE CONTRIBUTIONS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✓ Leak-Free Protocol: Demonstrated how improper SMOTE placement inflates accuracy by +3.2%.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✓ Defensible Performance: Achieved 92.7% Test Accuracy and 0.945 AUC with strict in-fold CV.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✓ Questionnaire Utility: Proved a free questionnaire reaches 0.887 AUC (93% of full model).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✓ Clinical Transparency: SHAP analysis confirms follicle count and cycle length as top signals.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