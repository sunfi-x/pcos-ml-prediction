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3291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0584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600" b="1">
                <a:solidFill>
                  <a:srgbClr val="0F3B66"/>
                </a:solidFill>
                <a:latin typeface="Quicksand"/>
              </a:defRPr>
            </a:pPr>
            <a:r>
              <a:t>Predicting Polycystic Ovary Syndrome (PCOS)</a:t>
            </a:r>
          </a:p>
          <a:p>
            <a:pPr>
              <a:defRPr sz="2600" b="1">
                <a:solidFill>
                  <a:srgbClr val="0EA5E9"/>
                </a:solidFill>
                <a:latin typeface="Quicksand"/>
              </a:defRPr>
            </a:pPr>
            <a:r>
              <a:t>with Machine Learning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2148840"/>
            <a:ext cx="99669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>
                <a:solidFill>
                  <a:srgbClr val="64748B"/>
                </a:solidFill>
                <a:latin typeface="Quicksand"/>
              </a:defRPr>
            </a:pPr>
            <a:r>
              <a:t>A defensible screening approach built from clinical and routine measurements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834640"/>
            <a:ext cx="219456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097280" y="28803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PCOS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Hormonal Disorder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91840" y="30175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611880" y="2834640"/>
            <a:ext cx="219456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611880" y="28803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DATA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541 Patients · 41 Feats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806440" y="30175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→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26480" y="2834640"/>
            <a:ext cx="219456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126480" y="28803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MODEL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9 Algorithms + Ensemble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321040" y="3017520"/>
            <a:ext cx="32004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0EA5E9"/>
                </a:solidFill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41080" y="2834640"/>
            <a:ext cx="2194560" cy="82296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641080" y="2880360"/>
            <a:ext cx="219456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SCREENING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92.7% Acc · 0.945 AUC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31520" y="4297680"/>
            <a:ext cx="10728655" cy="19202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97280" y="4480560"/>
            <a:ext cx="9966960" cy="1554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RESEARCH TEAM  ·  GROUP 5</a:t>
            </a:r>
          </a:p>
          <a:p>
            <a:pPr>
              <a:defRPr sz="1200" b="1">
                <a:solidFill>
                  <a:srgbClr val="1F2937"/>
                </a:solidFill>
                <a:latin typeface="Quicksand"/>
              </a:defRPr>
            </a:pPr>
            <a:r>
              <a:t>•  Fatema Ferdous  (ID: 0152410052)</a:t>
            </a:r>
          </a:p>
          <a:p>
            <a:pPr>
              <a:defRPr sz="1200" b="1">
                <a:solidFill>
                  <a:srgbClr val="1F2937"/>
                </a:solidFill>
                <a:latin typeface="Quicksand"/>
              </a:defRPr>
            </a:pPr>
            <a:r>
              <a:t>•  Wafa Haque  (ID: 0152420023)</a:t>
            </a:r>
          </a:p>
          <a:p>
            <a:pPr>
              <a:defRPr sz="1200" b="1">
                <a:solidFill>
                  <a:srgbClr val="1F2937"/>
                </a:solidFill>
                <a:latin typeface="Quicksand"/>
              </a:defRPr>
            </a:pPr>
            <a:r>
              <a:t>•  Khondoker Sazzad Sunfi  (ID: 0152310002)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01  ·  OBJECTIVES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Project Goals &amp; Key Research Objectives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ounded Rectangle 10"/>
          <p:cNvSpPr/>
          <p:nvPr/>
        </p:nvSpPr>
        <p:spPr>
          <a:xfrm>
            <a:off x="960120" y="1920240"/>
            <a:ext cx="50292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0120" y="1920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01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231343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B66"/>
                </a:solidFill>
                <a:latin typeface="Quicksand"/>
              </a:defRPr>
            </a:pPr>
            <a:r>
              <a:t>Build ML System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Predict PCOS status reliably from routine clinical, physical, and hormonal patient measurements.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52544" y="16916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4581144" y="1920240"/>
            <a:ext cx="50292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920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02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81144" y="231343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B66"/>
                </a:solidFill>
                <a:latin typeface="Quicksand"/>
              </a:defRPr>
            </a:pPr>
            <a:r>
              <a:t>Compare Models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Evaluate 9 diverse ML algorithms under an identical, strictly controlled evaluation framework.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973568" y="16916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8202168" y="1920240"/>
            <a:ext cx="50292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202168" y="192024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202168" y="231343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B66"/>
                </a:solidFill>
                <a:latin typeface="Quicksand"/>
              </a:defRPr>
            </a:pPr>
            <a:r>
              <a:t>Handle Data Imbalance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Reduce 2:1 class imbalance using SMOTE strictly inside training folds to eliminate optimistic bias.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731520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960120" y="4251960"/>
            <a:ext cx="50292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60120" y="425196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04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60120" y="464515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B66"/>
                </a:solidFill>
                <a:latin typeface="Quicksand"/>
              </a:defRPr>
            </a:pPr>
            <a:r>
              <a:t>Select Useful Features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Compare Correlation, Chi-Square, and RFE selectors to identify minimal predictor sets.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352544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ounded Rectangle 26"/>
          <p:cNvSpPr/>
          <p:nvPr/>
        </p:nvSpPr>
        <p:spPr>
          <a:xfrm>
            <a:off x="4581144" y="4251960"/>
            <a:ext cx="50292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581144" y="425196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05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81144" y="464515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B66"/>
                </a:solidFill>
                <a:latin typeface="Quicksand"/>
              </a:defRPr>
            </a:pPr>
            <a:r>
              <a:t>Evaluate Reliably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Use repeated stratified 10-fold CV and an untouched held-out 20% test set for true estimates.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973568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8202168" y="4251960"/>
            <a:ext cx="502920" cy="29260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02168" y="4251960"/>
            <a:ext cx="502920" cy="29260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b="1">
                <a:solidFill>
                  <a:srgbClr val="FFFFFF"/>
                </a:solidFill>
                <a:latin typeface="Quicksand"/>
              </a:defRPr>
            </a:pPr>
            <a:r>
              <a:t>06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02168" y="4645152"/>
            <a:ext cx="30175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0F3B66"/>
                </a:solidFill>
                <a:latin typeface="Quicksand"/>
              </a:defRPr>
            </a:pPr>
            <a:r>
              <a:t>Understand Predictions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Apply SHAP analysis to uncover feature priorities and explain model predictions transparently.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02  ·  METHODOLOGY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Pipeline Architecture &amp; Anti-Leakage Protocol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1133856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133856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04672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Dataset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541 Patients · 41 Feats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084832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2487168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87168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157984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Clean &amp; Impute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Coerce types &amp; blank ranges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438144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840480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84048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11296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Scale &amp; Split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80% Train / 20% Test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791455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5193791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193791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64607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Feature Selection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Correlation (keeps top 20)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6144768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6547104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547104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5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217920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In-Fold SMOTE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Oversample training only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498080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900416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900416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6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571232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9 ML Algorithms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Ensemble &amp; Validation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851392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9253728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9253728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924544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Evaluation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Repeated 10-Fold CV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10204704" y="1691640"/>
            <a:ext cx="1261872" cy="3108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607040" y="1920240"/>
            <a:ext cx="457200" cy="457200"/>
          </a:xfrm>
          <a:prstGeom prst="ellipse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607040" y="1920240"/>
            <a:ext cx="457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Quicksand"/>
              </a:defRPr>
            </a:pPr>
            <a:r>
              <a:t>8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277856" y="2514600"/>
            <a:ext cx="1115568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Explainability</a:t>
            </a:r>
          </a:p>
          <a:p>
            <a:pPr algn="ctr">
              <a:defRPr sz="950">
                <a:solidFill>
                  <a:srgbClr val="64748B"/>
                </a:solidFill>
                <a:latin typeface="Quicksand"/>
              </a:defRPr>
            </a:pPr>
            <a:r>
              <a:t>SHAP Feature Signals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31520" y="5029200"/>
            <a:ext cx="10728655" cy="11887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1005840" y="5166360"/>
            <a:ext cx="101498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CRITICAL DESIGN CHOICE: STRICT ANTI-LEAKAGE PROTOCOL</a:t>
            </a:r>
          </a:p>
          <a:p>
            <a:pPr>
              <a:defRPr sz="1050">
                <a:solidFill>
                  <a:srgbClr val="1F2937"/>
                </a:solidFill>
                <a:latin typeface="Quicksand"/>
              </a:defRPr>
            </a:pPr>
            <a:r>
              <a:t>Every transformation (imputation, scaling, feature selection, and SMOTE oversampling) is recalculated strictly inside each training fold. Nothing downstream of the split ever sees validation or held-out test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03  ·  EXPERIMENTAL SETUP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Dataset, Validation Strategy &amp; Model Zoo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00200"/>
            <a:ext cx="256032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31520" y="1645920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F3B66"/>
                </a:solidFill>
                <a:latin typeface="Quicksand"/>
              </a:defRPr>
            </a:pPr>
            <a:r>
              <a:t>541</a:t>
            </a:r>
          </a:p>
          <a:p>
            <a:pPr algn="ctr">
              <a:defRPr sz="950" b="1">
                <a:solidFill>
                  <a:srgbClr val="64748B"/>
                </a:solidFill>
                <a:latin typeface="Quicksand"/>
              </a:defRPr>
            </a:pPr>
            <a:r>
              <a:t>PATIENTS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456432" y="1600200"/>
            <a:ext cx="256032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456432" y="1645920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0EA5E9"/>
                </a:solidFill>
                <a:latin typeface="Quicksand"/>
              </a:defRPr>
            </a:pPr>
            <a:r>
              <a:t>41</a:t>
            </a:r>
          </a:p>
          <a:p>
            <a:pPr algn="ctr">
              <a:defRPr sz="950" b="1">
                <a:solidFill>
                  <a:srgbClr val="64748B"/>
                </a:solidFill>
                <a:latin typeface="Quicksand"/>
              </a:defRPr>
            </a:pPr>
            <a:r>
              <a:t>MEASUREMENTS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81344" y="1600200"/>
            <a:ext cx="256032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181344" y="1645920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2563EB"/>
                </a:solidFill>
                <a:latin typeface="Quicksand"/>
              </a:defRPr>
            </a:pPr>
            <a:r>
              <a:t>177</a:t>
            </a:r>
          </a:p>
          <a:p>
            <a:pPr algn="ctr">
              <a:defRPr sz="950" b="1">
                <a:solidFill>
                  <a:srgbClr val="64748B"/>
                </a:solidFill>
                <a:latin typeface="Quicksand"/>
              </a:defRPr>
            </a:pPr>
            <a:r>
              <a:t>PCOS CASES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906256" y="1600200"/>
            <a:ext cx="2560320" cy="109728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906256" y="1645920"/>
            <a:ext cx="2560320" cy="1005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 b="1">
                <a:solidFill>
                  <a:srgbClr val="64748B"/>
                </a:solidFill>
                <a:latin typeface="Quicksand"/>
              </a:defRPr>
            </a:pPr>
            <a:r>
              <a:t>364</a:t>
            </a:r>
          </a:p>
          <a:p>
            <a:pPr algn="ctr">
              <a:defRPr sz="950" b="1">
                <a:solidFill>
                  <a:srgbClr val="64748B"/>
                </a:solidFill>
                <a:latin typeface="Quicksand"/>
              </a:defRPr>
            </a:pPr>
            <a:r>
              <a:t>NON-PCOS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288036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30175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DATASET DETAILS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Source: Public dataset from 10 hospitals in Kerala, India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Predictor Space: Clinical, hormonal, physical &amp; ultrasound indicators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Class Ratio: Roughly 2:1 imbalance (364 non-PCOS vs 177 PCOS)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Key Signals: Follicle counts, BMI, cycle length, skin darkening, hair growth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288036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30175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EVALUATION FRAMEWORK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Data Split: 80% Train (432) / 20% Held-out Test (109)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Cross-Validation: Repeated Stratified 10-Fold CV (30 folds)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In-Fold SMOTE: Synthetic oversampling on training folds only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Feature Selectors: Correlation (20), Chi-Square (15), RFE (15)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• Key Metrics: Accuracy, Sensitivity, Specificity, ROC-AUC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046720" y="2880360"/>
            <a:ext cx="3383280" cy="34747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29600" y="3017520"/>
            <a:ext cx="301752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EVALUATED ALGORITHMS (9)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Logistic Regression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Elastic-Net Logistic Reg.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Support Vector Machine (SVM)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K-Nearest Neighbors (KNN)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Gaussian Naive Bayes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Random Forest Classifier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XGBoost Classifier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CatBoost Classifier</a:t>
            </a:r>
          </a:p>
          <a:p>
            <a:pPr>
              <a:defRPr sz="1000" b="1">
                <a:solidFill>
                  <a:srgbClr val="1F2937"/>
                </a:solidFill>
                <a:latin typeface="Quicksand"/>
              </a:defRPr>
            </a:pPr>
            <a:r>
              <a:t>✓ Stacking Ensemble (Meta-Learner)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04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Held-Out Test Set Performance (Headline Metrics)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97280" y="18745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Quicksand"/>
              </a:defRPr>
            </a:pPr>
            <a:r>
              <a:t>ACCURACY</a:t>
            </a:r>
          </a:p>
          <a:p>
            <a:pPr>
              <a:defRPr sz="3600" b="1">
                <a:solidFill>
                  <a:srgbClr val="0EA5E9"/>
                </a:solidFill>
                <a:latin typeface="Quicksand"/>
              </a:defRPr>
            </a:pPr>
            <a:r>
              <a:t>92.7%</a:t>
            </a:r>
          </a:p>
          <a:p>
            <a:pPr>
              <a:defRPr sz="1050">
                <a:solidFill>
                  <a:srgbClr val="1F2937"/>
                </a:solidFill>
                <a:latin typeface="Quicksand"/>
              </a:defRPr>
            </a:pPr>
            <a:r>
              <a:t>Correct classifications on held-out test data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81344" y="164592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47104" y="187452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Quicksand"/>
              </a:defRPr>
            </a:pPr>
            <a:r>
              <a:t>SENSITIVITY / RECALL</a:t>
            </a:r>
          </a:p>
          <a:p>
            <a:pPr>
              <a:defRPr sz="3600" b="1">
                <a:solidFill>
                  <a:srgbClr val="10B981"/>
                </a:solidFill>
                <a:latin typeface="Quicksand"/>
              </a:defRPr>
            </a:pPr>
            <a:r>
              <a:t>83.3%</a:t>
            </a:r>
          </a:p>
          <a:p>
            <a:pPr>
              <a:defRPr sz="1050">
                <a:solidFill>
                  <a:srgbClr val="1F2937"/>
                </a:solidFill>
                <a:latin typeface="Quicksand"/>
              </a:defRPr>
            </a:pPr>
            <a:r>
              <a:t>30 of 36 PCOS cases correctly detected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365760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97280" y="3886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Quicksand"/>
              </a:defRPr>
            </a:pPr>
            <a:r>
              <a:t>SPECIFICITY</a:t>
            </a:r>
          </a:p>
          <a:p>
            <a:pPr>
              <a:defRPr sz="3600" b="1">
                <a:solidFill>
                  <a:srgbClr val="2563EB"/>
                </a:solidFill>
                <a:latin typeface="Quicksand"/>
              </a:defRPr>
            </a:pPr>
            <a:r>
              <a:t>97.3%</a:t>
            </a:r>
          </a:p>
          <a:p>
            <a:pPr>
              <a:defRPr sz="1050">
                <a:solidFill>
                  <a:srgbClr val="1F2937"/>
                </a:solidFill>
                <a:latin typeface="Quicksand"/>
              </a:defRPr>
            </a:pPr>
            <a:r>
              <a:t>71 of 73 healthy controls correctly cleared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181344" y="3657600"/>
            <a:ext cx="5303520" cy="18288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47104" y="3886200"/>
            <a:ext cx="45720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64748B"/>
                </a:solidFill>
                <a:latin typeface="Quicksand"/>
              </a:defRPr>
            </a:pPr>
            <a:r>
              <a:t>HELD-OUT ROC-AUC</a:t>
            </a:r>
          </a:p>
          <a:p>
            <a:pPr>
              <a:defRPr sz="3600" b="1">
                <a:solidFill>
                  <a:srgbClr val="0F3B66"/>
                </a:solidFill>
                <a:latin typeface="Quicksand"/>
              </a:defRPr>
            </a:pPr>
            <a:r>
              <a:t>0.945</a:t>
            </a:r>
          </a:p>
          <a:p>
            <a:pPr>
              <a:defRPr sz="1050">
                <a:solidFill>
                  <a:srgbClr val="1F2937"/>
                </a:solidFill>
                <a:latin typeface="Quicksand"/>
              </a:defRPr>
            </a:pPr>
            <a:r>
              <a:t>95% Bootstrap CI: [0.887, 0.991]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31520" y="5577840"/>
            <a:ext cx="10728655" cy="77724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14400" y="5623560"/>
            <a:ext cx="10362895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CLINICAL TAKEAWAY &amp; DISCLAIMER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A defensible, leak-free ~93% result provides a trustworthy screening benchmark. High specificity ensures minimal false alarms, while high recall catches 5 out of 6 PCOS cases. Coursework screening decision-support model — NOT a standalone medical diagnostic device.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04  ·  RESULTS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Algorithm Performance Comparison (Horizontal Bar Chart)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6583680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783080"/>
            <a:ext cx="62179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MODEL RANKING BY CROSS-VALIDATED ROC-AUC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14884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1F2937"/>
                </a:solidFill>
                <a:latin typeface="Quicksand"/>
              </a:defRPr>
            </a:pPr>
            <a:r>
              <a:t>Stacking Ensemble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017520" y="2194560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3017520" y="2194560"/>
            <a:ext cx="2048255" cy="201168"/>
          </a:xfrm>
          <a:prstGeom prst="roundRect">
            <a:avLst/>
          </a:prstGeom>
          <a:solidFill>
            <a:srgbClr val="0F3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57215" y="213055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F3B66"/>
                </a:solidFill>
                <a:latin typeface="Quicksand"/>
              </a:defRPr>
            </a:pPr>
            <a:r>
              <a:t>0.956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14400" y="258775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Random Forest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3017520" y="2633472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3017520" y="2633472"/>
            <a:ext cx="1975103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84063" y="256946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0.954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14400" y="302666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CatBoost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3017520" y="3072384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3017520" y="3072384"/>
            <a:ext cx="1901951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5010911" y="3008376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0.952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14400" y="346557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Gaussian Naive Bayes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3017520" y="3511296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ounded Rectangle 25"/>
          <p:cNvSpPr/>
          <p:nvPr/>
        </p:nvSpPr>
        <p:spPr>
          <a:xfrm>
            <a:off x="3017520" y="3511296"/>
            <a:ext cx="1828799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937759" y="344728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0.950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14400" y="3904487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XGBoost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3017520" y="3950207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3017520" y="3950207"/>
            <a:ext cx="1792223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901183" y="3886199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0.949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4343400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Elastic-Net LR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3017520" y="4389120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ounded Rectangle 33"/>
          <p:cNvSpPr/>
          <p:nvPr/>
        </p:nvSpPr>
        <p:spPr>
          <a:xfrm>
            <a:off x="3017520" y="4389120"/>
            <a:ext cx="1719071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828031" y="4325112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0.947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4400" y="4782312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Logistic Regression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3017520" y="4828032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3017520" y="4828032"/>
            <a:ext cx="1719071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28031" y="4764024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0.947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14400" y="5221224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SVM (RBF)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017520" y="5266944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3017520" y="5266944"/>
            <a:ext cx="1682495" cy="201168"/>
          </a:xfrm>
          <a:prstGeom prst="round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791455" y="5202936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0EA5E9"/>
                </a:solidFill>
                <a:latin typeface="Quicksand"/>
              </a:defRPr>
            </a:pPr>
            <a:r>
              <a:t>0.946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14400" y="5660136"/>
            <a:ext cx="2011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0">
                <a:solidFill>
                  <a:srgbClr val="1F2937"/>
                </a:solidFill>
                <a:latin typeface="Quicksand"/>
              </a:defRPr>
            </a:pPr>
            <a:r>
              <a:t>KNN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3017520" y="5705856"/>
            <a:ext cx="3657600" cy="201168"/>
          </a:xfrm>
          <a:prstGeom prst="roundRect">
            <a:avLst/>
          </a:prstGeom>
          <a:solidFill>
            <a:srgbClr val="F7FB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ounded Rectangle 45"/>
          <p:cNvSpPr/>
          <p:nvPr/>
        </p:nvSpPr>
        <p:spPr>
          <a:xfrm>
            <a:off x="3017520" y="5705856"/>
            <a:ext cx="987552" cy="201168"/>
          </a:xfrm>
          <a:prstGeom prst="roundRect">
            <a:avLst/>
          </a:prstGeom>
          <a:solidFill>
            <a:srgbClr val="64748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4096512" y="5641848"/>
            <a:ext cx="7315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50" b="1">
                <a:solidFill>
                  <a:srgbClr val="64748B"/>
                </a:solidFill>
                <a:latin typeface="Quicksand"/>
              </a:defRPr>
            </a:pPr>
            <a:r>
              <a:t>0.927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7589520" y="1645920"/>
            <a:ext cx="3870655" cy="46634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7772400" y="1783080"/>
            <a:ext cx="34747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KEY COMPARISON INSIGHTS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• Tight Clustering:</a:t>
            </a:r>
          </a:p>
          <a:p>
            <a:pPr>
              <a:defRPr sz="1000">
                <a:solidFill>
                  <a:srgbClr val="64748B"/>
                </a:solidFill>
                <a:latin typeface="Quicksand"/>
              </a:defRPr>
            </a:pPr>
            <a:r>
              <a:t>   8 of 9 models perform closely near ~0.95 ROC-AUC. Small gaps are within fold noise.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• Winner Instability:</a:t>
            </a:r>
          </a:p>
          <a:p>
            <a:pPr>
              <a:defRPr sz="1000">
                <a:solidFill>
                  <a:srgbClr val="64748B"/>
                </a:solidFill>
                <a:latin typeface="Quicksand"/>
              </a:defRPr>
            </a:pPr>
            <a:r>
              <a:t>   Across 30 random splits, 8 different models won at least once. Declaring 1 winner is a coin flip.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• Naive Bayes Competitiveness:</a:t>
            </a:r>
          </a:p>
          <a:p>
            <a:pPr>
              <a:defRPr sz="1000">
                <a:solidFill>
                  <a:srgbClr val="64748B"/>
                </a:solidFill>
                <a:latin typeface="Quicksand"/>
              </a:defRPr>
            </a:pPr>
            <a:r>
              <a:t>   GNB finished 4th and won 40% of splits — confirming the signal is simple and additive.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• KNN Laggard:</a:t>
            </a:r>
          </a:p>
          <a:p>
            <a:pPr>
              <a:defRPr sz="1000">
                <a:solidFill>
                  <a:srgbClr val="64748B"/>
                </a:solidFill>
                <a:latin typeface="Quicksand"/>
              </a:defRPr>
            </a:pPr>
            <a:r>
              <a:t>   KNN is the only algorithm measurably weaker (0.927 AUC) because SMOTE oversampling distorts distances.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05  · 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Methodology Impact — Data Leakage Experiment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18288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10B981"/>
                </a:solidFill>
                <a:latin typeface="Quicksand"/>
              </a:defRPr>
            </a:pPr>
            <a:r>
              <a:t>CORRECT PROTOCOL (LEAK-FREE)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Split patients first → SMOTE &amp; selection inside CV</a:t>
            </a:r>
          </a:p>
          <a:p>
            <a:pPr>
              <a:defRPr sz="3600" b="1">
                <a:solidFill>
                  <a:srgbClr val="10B981"/>
                </a:solidFill>
                <a:latin typeface="Quicksand"/>
              </a:defRPr>
            </a:pPr>
            <a:r>
              <a:t>89.3%</a:t>
            </a:r>
          </a:p>
          <a:p>
            <a:pPr>
              <a:defRPr sz="1100" b="1">
                <a:solidFill>
                  <a:srgbClr val="1F2937"/>
                </a:solidFill>
                <a:latin typeface="Quicksand"/>
              </a:defRPr>
            </a:pPr>
            <a:r>
              <a:t>Accuracy (83.4% F1 Score)</a:t>
            </a:r>
          </a:p>
          <a:p>
            <a:pPr>
              <a:defRPr sz="1000">
                <a:solidFill>
                  <a:srgbClr val="64748B"/>
                </a:solidFill>
                <a:latin typeface="Quicksand"/>
              </a:defRPr>
            </a:pPr>
            <a:r>
              <a:t>✓ Reliable &amp; leak-free estimate. Test data remains completely unseen during all preprocessing and selection steps.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645920"/>
            <a:ext cx="5212080" cy="35661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F44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828800"/>
            <a:ext cx="466344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EF4444"/>
                </a:solidFill>
                <a:latin typeface="Quicksand"/>
              </a:defRPr>
            </a:pPr>
            <a:r>
              <a:t>LEAKY PROTOCOL (FLAWED METHOD)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Apply SMOTE &amp; Selection on full dataset → then split</a:t>
            </a:r>
          </a:p>
          <a:p>
            <a:pPr>
              <a:defRPr sz="3600" b="1">
                <a:solidFill>
                  <a:srgbClr val="EF4444"/>
                </a:solidFill>
                <a:latin typeface="Quicksand"/>
              </a:defRPr>
            </a:pPr>
            <a:r>
              <a:t>92.4%</a:t>
            </a:r>
          </a:p>
          <a:p>
            <a:pPr>
              <a:defRPr sz="1100" b="1">
                <a:solidFill>
                  <a:srgbClr val="1F2937"/>
                </a:solidFill>
                <a:latin typeface="Quicksand"/>
              </a:defRPr>
            </a:pPr>
            <a:r>
              <a:t>Accuracy (92.4% F1 Score)</a:t>
            </a:r>
          </a:p>
          <a:p>
            <a:pPr>
              <a:defRPr sz="1000">
                <a:solidFill>
                  <a:srgbClr val="64748B"/>
                </a:solidFill>
                <a:latin typeface="Quicksand"/>
              </a:defRPr>
            </a:pPr>
            <a:r>
              <a:t>⚠ Artificial inflation (+3.2% Accuracy, +9.0% F1). Synthetic test samples interpolated from training data leak labels.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10728655" cy="96012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14400" y="5440680"/>
            <a:ext cx="10362895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EF4444"/>
                </a:solidFill>
                <a:latin typeface="Quicksand"/>
              </a:defRPr>
            </a:pPr>
            <a:r>
              <a:t>MEASURED INFLATION: +3.2 PERCENTAGE POINTS ACCURACY  ·  +9.2% F1 SCORE</a:t>
            </a:r>
          </a:p>
          <a:p>
            <a:pPr>
              <a:defRPr sz="1000">
                <a:solidFill>
                  <a:srgbClr val="1F2937"/>
                </a:solidFill>
                <a:latin typeface="Quicksand"/>
              </a:defRPr>
            </a:pPr>
            <a:r>
              <a:t>Testing methodology can artificially inflate model performance. Prior studies reporting 98–99% accuracy on this dataset achieve high numbers through flawed preprocessing protocols that leak test information.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05  ·  ANALYSIS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Cost Tiers, SHAP Feature Signals &amp; Rotterdam Rule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144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FEATURE COST TIERS</a:t>
            </a:r>
          </a:p>
          <a:p>
            <a:pPr>
              <a:defRPr sz="1300" b="1">
                <a:solidFill>
                  <a:srgbClr val="0F3B66"/>
                </a:solidFill>
                <a:latin typeface="Quicksand"/>
              </a:defRPr>
            </a:pPr>
            <a:r>
              <a:t>Questionnaire Only</a:t>
            </a:r>
          </a:p>
          <a:p>
            <a:pPr>
              <a:defRPr sz="2200" b="1">
                <a:solidFill>
                  <a:srgbClr val="10B981"/>
                </a:solidFill>
                <a:latin typeface="Quicksand"/>
              </a:defRPr>
            </a:pPr>
            <a:r>
              <a:t>0.887 ROC-AUC</a:t>
            </a:r>
          </a:p>
          <a:p>
            <a:pPr>
              <a:defRPr sz="950">
                <a:solidFill>
                  <a:srgbClr val="1F2937"/>
                </a:solidFill>
                <a:latin typeface="Quicksand"/>
              </a:defRPr>
            </a:pPr>
            <a:r>
              <a:t>• Questionnaire Tier: 19 features (form &amp; scale). Reaches 93% of full model performance for FREE.</a:t>
            </a:r>
          </a:p>
          <a:p>
            <a:pPr>
              <a:defRPr sz="950">
                <a:solidFill>
                  <a:srgbClr val="1F2937"/>
                </a:solidFill>
                <a:latin typeface="Quicksand"/>
              </a:defRPr>
            </a:pPr>
            <a:r>
              <a:t>• Clinic Vitals Tier: 0.88 ROC-AUC</a:t>
            </a:r>
          </a:p>
          <a:p>
            <a:pPr>
              <a:defRPr sz="950">
                <a:solidFill>
                  <a:srgbClr val="1F2937"/>
                </a:solidFill>
                <a:latin typeface="Quicksand"/>
              </a:defRPr>
            </a:pPr>
            <a:r>
              <a:t>• Blood Panel Tier: 0.89 ROC-AUC (+0.011 gain is virtually negligible).</a:t>
            </a:r>
          </a:p>
          <a:p>
            <a:pPr>
              <a:defRPr sz="950">
                <a:solidFill>
                  <a:srgbClr val="1F2937"/>
                </a:solidFill>
                <a:latin typeface="Quicksand"/>
              </a:defRPr>
            </a:pPr>
            <a:r>
              <a:t>• Ultrasound Tier: 0.952 ROC-AUC (+0.062 gain pays for itself).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720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TOP SHAP SIGNALS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1. Follicle No. (Right)</a:t>
            </a:r>
          </a:p>
          <a:p>
            <a:pPr>
              <a:defRPr sz="950">
                <a:solidFill>
                  <a:srgbClr val="64748B"/>
                </a:solidFill>
                <a:latin typeface="Quicksand"/>
              </a:defRPr>
            </a:pPr>
            <a:r>
              <a:t>   Primary predictor across all models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2. Follicle No. (Left)</a:t>
            </a:r>
          </a:p>
          <a:p>
            <a:pPr>
              <a:defRPr sz="950">
                <a:solidFill>
                  <a:srgbClr val="64748B"/>
                </a:solidFill>
                <a:latin typeface="Quicksand"/>
              </a:defRPr>
            </a:pPr>
            <a:r>
              <a:t>   Strong positive correlation with PCOS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3. Skin Darkening</a:t>
            </a:r>
          </a:p>
          <a:p>
            <a:pPr>
              <a:defRPr sz="950">
                <a:solidFill>
                  <a:srgbClr val="64748B"/>
                </a:solidFill>
                <a:latin typeface="Quicksand"/>
              </a:defRPr>
            </a:pPr>
            <a:r>
              <a:t>   Top physical symptom indicator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4. Cycle Length</a:t>
            </a:r>
          </a:p>
          <a:p>
            <a:pPr>
              <a:defRPr sz="950">
                <a:solidFill>
                  <a:srgbClr val="64748B"/>
                </a:solidFill>
                <a:latin typeface="Quicksand"/>
              </a:defRPr>
            </a:pPr>
            <a:r>
              <a:t>   Irregular cycle duration signal</a:t>
            </a:r>
          </a:p>
          <a:p>
            <a:pPr>
              <a:defRPr b="1" sz="1050">
                <a:solidFill>
                  <a:srgbClr val="0F3B66"/>
                </a:solidFill>
                <a:latin typeface="Quicksand"/>
              </a:defRPr>
            </a:pPr>
            <a:r>
              <a:t>5. Hair Growth (Hirsutism)</a:t>
            </a:r>
          </a:p>
          <a:p>
            <a:pPr>
              <a:defRPr sz="950">
                <a:solidFill>
                  <a:srgbClr val="64748B"/>
                </a:solidFill>
                <a:latin typeface="Quicksand"/>
              </a:defRPr>
            </a:pPr>
            <a:r>
              <a:t>   Key androgenic symptom indicator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46720" y="1645920"/>
            <a:ext cx="3383280" cy="45720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828800"/>
            <a:ext cx="3017520" cy="4206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ML VS. ROTTERDAM RULE</a:t>
            </a:r>
          </a:p>
          <a:p>
            <a:pPr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2003 Rotterdam Rule</a:t>
            </a:r>
          </a:p>
          <a:p>
            <a:pPr>
              <a:defRPr sz="1800" b="1">
                <a:solidFill>
                  <a:srgbClr val="64748B"/>
                </a:solidFill>
                <a:latin typeface="Quicksand"/>
              </a:defRPr>
            </a:pPr>
            <a:r>
              <a:t>22 / 36 Cases Found</a:t>
            </a:r>
          </a:p>
          <a:p>
            <a:pPr>
              <a:defRPr sz="1100" b="1">
                <a:solidFill>
                  <a:srgbClr val="0F3B66"/>
                </a:solidFill>
                <a:latin typeface="Quicksand"/>
              </a:defRPr>
            </a:pPr>
            <a:r>
              <a:t>ML Stacking Model</a:t>
            </a:r>
          </a:p>
          <a:p>
            <a:pPr>
              <a:defRPr sz="1800" b="1">
                <a:solidFill>
                  <a:srgbClr val="10B981"/>
                </a:solidFill>
                <a:latin typeface="Quicksand"/>
              </a:defRPr>
            </a:pPr>
            <a:r>
              <a:t>30 / 36 Cases Found</a:t>
            </a:r>
          </a:p>
          <a:p>
            <a:pPr>
              <a:defRPr sz="950">
                <a:solidFill>
                  <a:srgbClr val="1F2937"/>
                </a:solidFill>
                <a:latin typeface="Quicksand"/>
              </a:defRPr>
            </a:pPr>
            <a:r>
              <a:t>✓ ML adds +8 additional PCOS cases detected over the clinical threshold rule at the cost of only 1 extra false alarm.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01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51460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02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29768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03 EXPERIMENTAL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8076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04 RESULTS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86384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0">
                <a:solidFill>
                  <a:srgbClr val="94A3B8"/>
                </a:solidFill>
                <a:latin typeface="Quicksand"/>
              </a:defRPr>
            </a:pPr>
            <a:r>
              <a:t>05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46920" y="320040"/>
            <a:ext cx="17373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50" b="1">
                <a:solidFill>
                  <a:srgbClr val="0EA5E9"/>
                </a:solidFill>
                <a:latin typeface="Quicksand"/>
              </a:defRPr>
            </a:pPr>
            <a:r>
              <a:t>06 LIMITATIONS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685800"/>
            <a:ext cx="10698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0EA5E9"/>
                </a:solidFill>
                <a:latin typeface="Quicksand"/>
              </a:defRPr>
            </a:pPr>
            <a:r>
              <a:t>06  ·  LIMITATIONS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960120"/>
            <a:ext cx="1069848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0F3B66"/>
                </a:solidFill>
                <a:latin typeface="Quicksand"/>
              </a:defRPr>
            </a:pPr>
            <a:r>
              <a:t>Study Limitations &amp; Operational Constraints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16916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1920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⚠  Small Test Sample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Held-out test set contains 36 PCOS cases, making recall estimates span [70%, 94%].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52544" y="16916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81144" y="1920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⚠  Single-Center Cohort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Data is from 10 hospitals in Kerala, India; multi-center evaluation remains future work.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169164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192024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⚠  Label Circularity Risk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Follicle count is both a top model predictor and a component of diagnostic criteria.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31520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⚠  No Raw Ultrasound Scans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Dataset includes follicle counts from scans, but not raw imaging files for CNNs.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52544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581144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⚠  Unblinded Assessment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Symptoms may have been recorded by clinicians who already suspected PCOS.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973568" y="4023360"/>
            <a:ext cx="3474720" cy="214884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2E8F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02168" y="4251960"/>
            <a:ext cx="3017520" cy="1691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1">
                <a:solidFill>
                  <a:srgbClr val="0F3B66"/>
                </a:solidFill>
                <a:latin typeface="Quicksand"/>
              </a:defRPr>
            </a:pPr>
            <a:r>
              <a:t>⚠  Screening Scope</a:t>
            </a:r>
          </a:p>
          <a:p>
            <a:pPr>
              <a:defRPr sz="1050">
                <a:solidFill>
                  <a:srgbClr val="64748B"/>
                </a:solidFill>
                <a:latin typeface="Quicksand"/>
              </a:defRPr>
            </a:pPr>
            <a:r>
              <a:t>Coursework screening decision-support model — not a diagnostic replacement for doctors.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FB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0EA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097280"/>
            <a:ext cx="996696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400" b="1">
                <a:solidFill>
                  <a:srgbClr val="0F3B66"/>
                </a:solidFill>
                <a:latin typeface="Quicksand"/>
              </a:defRPr>
            </a:pPr>
            <a:r>
              <a:t>Thank You!</a:t>
            </a:r>
          </a:p>
          <a:p>
            <a:pPr algn="ctr">
              <a:defRPr sz="2000" b="1">
                <a:solidFill>
                  <a:srgbClr val="0EA5E9"/>
                </a:solidFill>
                <a:latin typeface="Quicksand"/>
              </a:defRPr>
            </a:pPr>
            <a:r>
              <a:t>Questions &amp; Discussion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2743200"/>
            <a:ext cx="9448495" cy="2743200"/>
          </a:xfrm>
          <a:prstGeom prst="roundRect">
            <a:avLst/>
          </a:prstGeom>
          <a:solidFill>
            <a:srgbClr val="F0F9FF"/>
          </a:solidFill>
          <a:ln w="12700">
            <a:solidFill>
              <a:srgbClr val="E0F2F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645920" y="2926080"/>
            <a:ext cx="8869680" cy="2377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0EA5E9"/>
                </a:solidFill>
                <a:latin typeface="Quicksand"/>
              </a:defRPr>
            </a:pPr>
            <a:r>
              <a:t>SUMMARY OF CORE RESEARCH CONTRIBUTIONS</a:t>
            </a:r>
          </a:p>
          <a:p>
            <a:pPr>
              <a:defRPr sz="1100" b="1">
                <a:solidFill>
                  <a:srgbClr val="1F2937"/>
                </a:solidFill>
                <a:latin typeface="Quicksand"/>
              </a:defRPr>
            </a:pPr>
            <a:r>
              <a:t>✓ Leak-Free Protocol: Demonstrated how improper SMOTE placement inflates accuracy by +3.2%.</a:t>
            </a:r>
          </a:p>
          <a:p>
            <a:pPr>
              <a:defRPr sz="1100" b="1">
                <a:solidFill>
                  <a:srgbClr val="1F2937"/>
                </a:solidFill>
                <a:latin typeface="Quicksand"/>
              </a:defRPr>
            </a:pPr>
            <a:r>
              <a:t>✓ Defensible Performance: Achieved 92.7% Test Accuracy and 0.945 AUC with strict in-fold CV.</a:t>
            </a:r>
          </a:p>
          <a:p>
            <a:pPr>
              <a:defRPr sz="1100" b="1">
                <a:solidFill>
                  <a:srgbClr val="1F2937"/>
                </a:solidFill>
                <a:latin typeface="Quicksand"/>
              </a:defRPr>
            </a:pPr>
            <a:r>
              <a:t>✓ Questionnaire Utility: Proved a free questionnaire reaches 0.887 AUC (93% of full model).</a:t>
            </a:r>
          </a:p>
          <a:p>
            <a:pPr>
              <a:defRPr sz="1100" b="1">
                <a:solidFill>
                  <a:srgbClr val="1F2937"/>
                </a:solidFill>
                <a:latin typeface="Quicksand"/>
              </a:defRPr>
            </a:pPr>
            <a:r>
              <a:t>✓ Clinical Transparency: SHAP analysis confirms follicle count and cycle length as top signals.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